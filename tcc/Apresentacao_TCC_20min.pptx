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Priorização de Backlog em Apps Bancários via Knowledge Graph e Feedback do Usuário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MBA USP/ESALQ – Data Science 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/>
            </a:pPr>
            <a:r>
              <a:t>Autora: Simone Rossetti Nobre Naxara</a:t>
            </a:r>
            <a:br/>
            <a:r>
              <a:t>Orientadora: Dra. Anna Carolina Martins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Contexto – Mobile banking no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• FEBRABAN: mais de 75% das transações via mobile</a:t>
            </a:r>
          </a:p>
          <a:p>
            <a:pPr>
              <a:spcBef>
                <a:spcPts val="600"/>
              </a:spcBef>
              <a:defRPr sz="1400"/>
            </a:pPr>
            <a:r>
              <a:t>• Dependência tecnológica → qualidade é questão estratégica</a:t>
            </a:r>
          </a:p>
          <a:p>
            <a:pPr>
              <a:spcBef>
                <a:spcPts val="600"/>
              </a:spcBef>
              <a:defRPr sz="1400"/>
            </a:pPr>
            <a:r>
              <a:t>• Impacto de problemas: perda de confiança, migração, prejuízos financeiros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FEBRABAN (2024); Anouze et al. (2019)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O problema – Lacuna nos testes tradicionais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• Testes ISTQB não cobrem cenários reais de produção</a:t>
            </a:r>
          </a:p>
          <a:p>
            <a:pPr>
              <a:spcBef>
                <a:spcPts val="600"/>
              </a:spcBef>
              <a:defRPr sz="1400"/>
            </a:pPr>
            <a:r>
              <a:t>• Em produção: dispositivos diversos, rede instável, padrões imprevistos</a:t>
            </a:r>
          </a:p>
          <a:p>
            <a:pPr>
              <a:spcBef>
                <a:spcPts val="600"/>
              </a:spcBef>
              <a:defRPr sz="1400"/>
            </a:pPr>
            <a:r>
              <a:t>• Avaliações das lojas = termômetro em tempo real, mas pouco exploradas</a:t>
            </a:r>
          </a:p>
          <a:p>
            <a:pPr>
              <a:spcBef>
                <a:spcPts val="600"/>
              </a:spcBef>
              <a:defRPr sz="1400"/>
            </a:pPr>
            <a:r>
              <a:t>• Nota 1–5 estrelas é insuficiente (mesmo negativa pode esconder problemas muito diferentes)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Objetivo e proposta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• Objetivo: transformar feedback textual das lojas em documentos estruturados de priorização</a:t>
            </a:r>
          </a:p>
          <a:p>
            <a:pPr>
              <a:spcBef>
                <a:spcPts val="600"/>
              </a:spcBef>
              <a:defRPr sz="1400"/>
            </a:pPr>
            <a:r>
              <a:t>• Abordagem além da esteira tradicional → testes em produção</a:t>
            </a:r>
          </a:p>
          <a:p>
            <a:pPr>
              <a:spcBef>
                <a:spcPts val="600"/>
              </a:spcBef>
              <a:defRPr sz="1400"/>
            </a:pPr>
            <a:r>
              <a:t>• Pipeline: coleta → polarização → extração → Knowledge Graph → priorização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Arquitetura – Pipeline em dois estágios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• Estágio 1: BERTweet (XLM-RoBERTa) → polarização</a:t>
            </a:r>
          </a:p>
          <a:p>
            <a:pPr>
              <a:defRPr sz="1200"/>
            </a:pPr>
            <a:r>
              <a:t>• Estágio 2: GPT-4o → extração de entidades → Neo4j</a:t>
            </a:r>
          </a:p>
          <a:p>
            <a:pPr>
              <a:defRPr sz="1200"/>
            </a:pPr>
            <a:r>
              <a:t>• Filtro: apenas comentários negativos passam ao estágio 2</a:t>
            </a:r>
          </a:p>
        </p:txBody>
      </p:sp>
      <p:pic>
        <p:nvPicPr>
          <p:cNvPr id="4" name="Picture 3" descr="pipeline_processam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7315200" cy="31050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Metodologia – Coleta e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• Google Play Store, app CAIXA</a:t>
            </a:r>
          </a:p>
          <a:p>
            <a:pPr>
              <a:spcBef>
                <a:spcPts val="600"/>
              </a:spcBef>
              <a:defRPr sz="1400"/>
            </a:pPr>
            <a:r>
              <a:t>• Janela de 30 dias, ~2.000 avaliações típicas</a:t>
            </a:r>
          </a:p>
          <a:p>
            <a:pPr>
              <a:spcBef>
                <a:spcPts val="600"/>
              </a:spcBef>
              <a:defRPr sz="1400"/>
            </a:pPr>
            <a:r>
              <a:t>• Higienização: remoção de vazios e &lt; 3 palavras</a:t>
            </a:r>
          </a:p>
          <a:p>
            <a:pPr>
              <a:spcBef>
                <a:spcPts val="600"/>
              </a:spcBef>
              <a:defRPr sz="1400"/>
            </a:pPr>
            <a:r>
              <a:t>• Atributos: texto, nota 1–5, data, versão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Metodologia – Modelos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• Estágio 1: XLM-RoBERTa (BERTweet) – polarização</a:t>
            </a:r>
          </a:p>
          <a:p>
            <a:pPr>
              <a:spcBef>
                <a:spcPts val="600"/>
              </a:spcBef>
              <a:defRPr sz="1400"/>
            </a:pPr>
            <a:r>
              <a:t>• Estágio 2: GPT-4o – extração (temperature 0,1)</a:t>
            </a:r>
          </a:p>
          <a:p>
            <a:pPr>
              <a:spcBef>
                <a:spcPts val="600"/>
              </a:spcBef>
              <a:defRPr sz="1400"/>
            </a:pPr>
            <a:r>
              <a:t>• Etapa de reflexão: segunda passada recupera 5–10% de entidades perdidas</a:t>
            </a:r>
          </a:p>
          <a:p>
            <a:pPr>
              <a:spcBef>
                <a:spcPts val="600"/>
              </a:spcBef>
              <a:defRPr sz="1400"/>
            </a:pPr>
            <a:r>
              <a:t>• Mapeamento para 15 BusinessCapabilities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Knowledge Graph temporal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• Estrutura: App → Version → Episode → Issue → BusinessCapability</a:t>
            </a:r>
          </a:p>
          <a:p>
            <a:pPr>
              <a:spcBef>
                <a:spcPts val="600"/>
              </a:spcBef>
              <a:defRPr sz="1400"/>
            </a:pPr>
            <a:r>
              <a:t>• Três subgrafos: Episódico, Semântico, Comunidade</a:t>
            </a:r>
          </a:p>
          <a:p>
            <a:pPr>
              <a:spcBef>
                <a:spcPts val="600"/>
              </a:spcBef>
              <a:defRPr sz="1400"/>
            </a:pPr>
            <a:r>
              <a:t>• Neo4j para armazenamento</a:t>
            </a:r>
          </a:p>
          <a:p>
            <a:pPr>
              <a:spcBef>
                <a:spcPts val="600"/>
              </a:spcBef>
              <a:defRPr sz="1400"/>
            </a:pPr>
            <a:r>
              <a:t>• Uma Issue pode relacionar-se a várias BusinessCapabilities (natureza transversal)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Resultados – Amostra processada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• 2.451 avaliações (5–18 jan/2026)</a:t>
            </a:r>
          </a:p>
          <a:p>
            <a:pPr>
              <a:spcBef>
                <a:spcPts val="600"/>
              </a:spcBef>
              <a:defRPr sz="1400"/>
            </a:pPr>
            <a:r>
              <a:t>• 878 negativas (35,82%) → filtro → 763 válidas</a:t>
            </a:r>
          </a:p>
          <a:p>
            <a:pPr>
              <a:spcBef>
                <a:spcPts val="600"/>
              </a:spcBef>
              <a:defRPr sz="1400"/>
            </a:pPr>
            <a:r>
              <a:t>• 100 comentários processados → 103 episódios, 85 issues</a:t>
            </a:r>
          </a:p>
          <a:p>
            <a:pPr>
              <a:spcBef>
                <a:spcPts val="600"/>
              </a:spcBef>
              <a:defRPr sz="1400"/>
            </a:pPr>
            <a:r>
              <a:t>• 15 BusinessCapabilities, 91 relacionamentos (91 &gt; 85 = transversalidade)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Resultados – Comparação de modelos GPT (Figura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• GPT-4o-2024-08-06: 63,6% acurácia (14/22 corretos)</a:t>
            </a:r>
          </a:p>
          <a:p>
            <a:pPr>
              <a:defRPr sz="1200"/>
            </a:pPr>
            <a:r>
              <a:t>• Refinamento: 54,5% → 63,6%</a:t>
            </a:r>
          </a:p>
          <a:p>
            <a:pPr>
              <a:defRPr sz="1200"/>
            </a:pPr>
            <a:r>
              <a:t>• Erros: gírias, sarcasmo, múltiplos problemas, referências implícitas</a:t>
            </a:r>
          </a:p>
        </p:txBody>
      </p:sp>
      <p:pic>
        <p:nvPicPr>
          <p:cNvPr id="4" name="Picture 3" descr="comparacao_modelos_g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7315200" cy="262508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Resultados – Modelos de polarização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• BERTweet: 96,17% acurácia vs 74,32% DistilBERT</a:t>
            </a:r>
          </a:p>
          <a:p>
            <a:pPr>
              <a:defRPr sz="1200"/>
            </a:pPr>
            <a:r>
              <a:t>• ROC AUC: 98,97% vs 78,98%</a:t>
            </a:r>
          </a:p>
          <a:p>
            <a:pPr>
              <a:defRPr sz="1200"/>
            </a:pPr>
            <a:r>
              <a:t>• Melhor interpretação de ironias e expressões do domínio</a:t>
            </a:r>
          </a:p>
        </p:txBody>
      </p:sp>
      <p:pic>
        <p:nvPicPr>
          <p:cNvPr id="4" name="Picture 3" descr="comparacao_modelos_sentimen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7315200" cy="23622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Resultados – Estatísticas do Knowledge 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• 103 episódios | 85 issues | 15 BusinessCapabilities | 91 relacionamentos</a:t>
            </a:r>
          </a:p>
          <a:p>
            <a:pPr>
              <a:spcBef>
                <a:spcPts val="600"/>
              </a:spcBef>
              <a:defRPr sz="1400"/>
            </a:pPr>
            <a:r>
              <a:t>• 91 &gt; 85 → issues associadas a múltiplas capacidades</a:t>
            </a:r>
          </a:p>
          <a:p>
            <a:pPr>
              <a:spcBef>
                <a:spcPts val="600"/>
              </a:spcBef>
              <a:defRPr sz="1400"/>
            </a:pPr>
            <a:r>
              <a:t>• Exemplo: 'Bloqueio de Senha' → Autenticação + Segurança</a:t>
            </a:r>
          </a:p>
          <a:p>
            <a:pPr>
              <a:spcBef>
                <a:spcPts val="600"/>
              </a:spcBef>
              <a:defRPr sz="1400"/>
            </a:pPr>
            <a:r>
              <a:t>• Cobertura 100% para mapeamento em BusinessCapability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Resultados – Distribuição e Top 10 Issues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• Performance e Estabilidade: 23,53% (20 de 85)</a:t>
            </a:r>
          </a:p>
          <a:p>
            <a:pPr>
              <a:defRPr sz="1200"/>
            </a:pPr>
            <a:r>
              <a:t>• Top 3: Performance, Gestão de Cadastro, Autenticação</a:t>
            </a:r>
          </a:p>
          <a:p>
            <a:pPr>
              <a:defRPr sz="1200"/>
            </a:pPr>
            <a:r>
              <a:t>• 'Lentidão' em 7 episódios – issue mais crítica</a:t>
            </a:r>
          </a:p>
          <a:p>
            <a:pPr>
              <a:defRPr sz="1200"/>
            </a:pPr>
            <a:r>
              <a:t>• 65% das issues em capacidades de alto valor de negócio</a:t>
            </a:r>
          </a:p>
        </p:txBody>
      </p:sp>
      <p:pic>
        <p:nvPicPr>
          <p:cNvPr id="4" name="Picture 3" descr="distribuicao_issues_capabil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6400800" cy="3168885"/>
          </a:xfrm>
          <a:prstGeom prst="rect">
            <a:avLst/>
          </a:prstGeom>
        </p:spPr>
      </p:pic>
      <p:pic>
        <p:nvPicPr>
          <p:cNvPr id="5" name="Picture 4" descr="top_10_issu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14400"/>
            <a:ext cx="3657600" cy="24223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Resultados – Métricas de Social Network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• 93% das issues com degree 1; 6 issues (senha) com degree 2</a:t>
            </a:r>
          </a:p>
          <a:p>
            <a:pPr>
              <a:defRPr sz="1200"/>
            </a:pPr>
            <a:r>
              <a:t>• Clustering de senha: 0,91 → cluster denso</a:t>
            </a:r>
          </a:p>
          <a:p>
            <a:pPr>
              <a:defRPr sz="1200"/>
            </a:pPr>
            <a:r>
              <a:t>• Betweenness e Closeness Centrality para 'pontes' e impacto amplo</a:t>
            </a:r>
          </a:p>
        </p:txBody>
      </p:sp>
      <p:pic>
        <p:nvPicPr>
          <p:cNvPr id="4" name="Picture 3" descr="sna_metricas_combinad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Exemplo qualitativo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• Comentário: 'Depois que atualizou o app, não reconhece a biometria, tem que ficar colocando a senha'</a:t>
            </a:r>
          </a:p>
          <a:p>
            <a:pPr>
              <a:spcBef>
                <a:spcPts val="600"/>
              </a:spcBef>
              <a:defRPr sz="1400"/>
            </a:pPr>
            <a:r>
              <a:t>• Entidades: 'Não reconhece biometria', 'Inserir senha'</a:t>
            </a:r>
          </a:p>
          <a:p>
            <a:pPr>
              <a:spcBef>
                <a:spcPts val="600"/>
              </a:spcBef>
              <a:defRPr sz="1400"/>
            </a:pPr>
            <a:r>
              <a:t>• Mapeamento: Login/Autenticação + Segurança e Proteção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Conclusão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• Viabilidade demonstrada para transformar feedback em documentos estruturados</a:t>
            </a:r>
          </a:p>
          <a:p>
            <a:pPr>
              <a:spcBef>
                <a:spcPts val="600"/>
              </a:spcBef>
              <a:defRPr sz="1400"/>
            </a:pPr>
            <a:r>
              <a:t>• 85 issues extraídas | 63,6% acurácia | 100% cobertura</a:t>
            </a:r>
          </a:p>
          <a:p>
            <a:pPr>
              <a:spcBef>
                <a:spcPts val="600"/>
              </a:spcBef>
              <a:defRPr sz="1400"/>
            </a:pPr>
            <a:r>
              <a:t>• Triagem: 13,1% comentários genéricos removidos</a:t>
            </a:r>
          </a:p>
          <a:p>
            <a:pPr>
              <a:spcBef>
                <a:spcPts val="600"/>
              </a:spcBef>
              <a:defRPr sz="1400"/>
            </a:pPr>
            <a:r>
              <a:t>• Reflexão: +5–10% entidades recuperadas</a:t>
            </a:r>
          </a:p>
          <a:p>
            <a:pPr>
              <a:spcBef>
                <a:spcPts val="600"/>
              </a:spcBef>
              <a:defRPr sz="1400"/>
            </a:pPr>
            <a:r>
              <a:t>• Potencial de escala e integração com BI/Jira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Limitações e próximos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• Limitações: amostra 100 comentários; validação temporal pendente; processamento sequencial</a:t>
            </a:r>
          </a:p>
          <a:p>
            <a:pPr>
              <a:spcBef>
                <a:spcPts val="600"/>
              </a:spcBef>
              <a:defRPr sz="1400"/>
            </a:pPr>
            <a:r>
              <a:t>• Próximos: expandir amostra, validação com especialistas, processamento paralelo, templates automáticos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Obrigada!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Perguntas?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/>
            </a:pPr>
            <a:r>
              <a:t>Autora: Simone Rossetti Nobre Naxara</a:t>
            </a:r>
            <a:br/>
            <a:r>
              <a:t>simone-rossetti@usp.br</a:t>
            </a:r>
            <a:br/>
            <a:r>
              <a:t>Orientadora: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