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5"/>
  </p:notes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5" r:id="rId14"/>
  </p:sldIdLst>
  <p:sldSz cx="9144000" cy="5143500" type="screen16x9"/>
  <p:notesSz cx="6858000" cy="9144000"/>
  <p:embeddedFontLst>
    <p:embeddedFont>
      <p:font typeface="Saira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2FEBDE"/>
    <a:srgbClr val="028481"/>
    <a:srgbClr val="FF7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89C1A-D157-4293-B0E0-B9130D3EFF1B}" v="1" dt="2025-12-05T17:59:06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26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Rossetti Nobre Naxara" userId="67d42903-0d21-4142-a31c-e4f4964febdf" providerId="ADAL" clId="{81C80555-BB0A-45D5-A9A5-3F4AD58D9791}"/>
    <pc:docChg chg="modSld">
      <pc:chgData name="Simone Rossetti Nobre Naxara" userId="67d42903-0d21-4142-a31c-e4f4964febdf" providerId="ADAL" clId="{81C80555-BB0A-45D5-A9A5-3F4AD58D9791}" dt="2025-12-05T17:59:06.805" v="8"/>
      <pc:docMkLst>
        <pc:docMk/>
      </pc:docMkLst>
      <pc:sldChg chg="modSp mod">
        <pc:chgData name="Simone Rossetti Nobre Naxara" userId="67d42903-0d21-4142-a31c-e4f4964febdf" providerId="ADAL" clId="{81C80555-BB0A-45D5-A9A5-3F4AD58D9791}" dt="2025-12-03T16:30:53.015" v="7" actId="6549"/>
        <pc:sldMkLst>
          <pc:docMk/>
          <pc:sldMk cId="751190064" sldId="261"/>
        </pc:sldMkLst>
        <pc:spChg chg="mod">
          <ac:chgData name="Simone Rossetti Nobre Naxara" userId="67d42903-0d21-4142-a31c-e4f4964febdf" providerId="ADAL" clId="{81C80555-BB0A-45D5-A9A5-3F4AD58D9791}" dt="2025-12-03T16:30:44.631" v="2" actId="20577"/>
          <ac:spMkLst>
            <pc:docMk/>
            <pc:sldMk cId="751190064" sldId="261"/>
            <ac:spMk id="6" creationId="{2F94D698-E2E4-8BF5-4D7F-BABA73551E5B}"/>
          </ac:spMkLst>
        </pc:spChg>
        <pc:spChg chg="mod">
          <ac:chgData name="Simone Rossetti Nobre Naxara" userId="67d42903-0d21-4142-a31c-e4f4964febdf" providerId="ADAL" clId="{81C80555-BB0A-45D5-A9A5-3F4AD58D9791}" dt="2025-12-03T16:30:53.015" v="7" actId="6549"/>
          <ac:spMkLst>
            <pc:docMk/>
            <pc:sldMk cId="751190064" sldId="261"/>
            <ac:spMk id="24" creationId="{FD27E535-53A9-70B9-338E-0B706543876A}"/>
          </ac:spMkLst>
        </pc:spChg>
      </pc:sldChg>
      <pc:sldChg chg="modSp">
        <pc:chgData name="Simone Rossetti Nobre Naxara" userId="67d42903-0d21-4142-a31c-e4f4964febdf" providerId="ADAL" clId="{81C80555-BB0A-45D5-A9A5-3F4AD58D9791}" dt="2025-12-05T17:59:06.805" v="8"/>
        <pc:sldMkLst>
          <pc:docMk/>
          <pc:sldMk cId="215876058" sldId="262"/>
        </pc:sldMkLst>
        <pc:spChg chg="mod">
          <ac:chgData name="Simone Rossetti Nobre Naxara" userId="67d42903-0d21-4142-a31c-e4f4964febdf" providerId="ADAL" clId="{81C80555-BB0A-45D5-A9A5-3F4AD58D9791}" dt="2025-12-05T17:59:06.805" v="8"/>
          <ac:spMkLst>
            <pc:docMk/>
            <pc:sldMk cId="215876058" sldId="262"/>
            <ac:spMk id="9" creationId="{83F67110-D16A-1F25-72C2-380BFCF36E0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Avaliações</c:v>
                </c:pt>
              </c:strCache>
            </c:strRef>
          </c:tx>
          <c:dPt>
            <c:idx val="0"/>
            <c:bubble3D val="0"/>
            <c:spPr>
              <a:solidFill>
                <a:srgbClr val="02848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A6-4D26-850B-E444B7B9F7A1}"/>
              </c:ext>
            </c:extLst>
          </c:dPt>
          <c:dPt>
            <c:idx val="1"/>
            <c:bubble3D val="0"/>
            <c:spPr>
              <a:solidFill>
                <a:srgbClr val="FF704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A6-4D26-850B-E444B7B9F7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A6-4D26-850B-E444B7B9F7A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Planilha1!$A$2:$A$4</c:f>
              <c:strCache>
                <c:ptCount val="3"/>
                <c:pt idx="0">
                  <c:v>Positivas</c:v>
                </c:pt>
                <c:pt idx="1">
                  <c:v>Negativas</c:v>
                </c:pt>
                <c:pt idx="2">
                  <c:v>Neutras</c:v>
                </c:pt>
              </c:strCache>
            </c:strRef>
          </c:cat>
          <c:val>
            <c:numRef>
              <c:f>Planilha1!$B$2:$B$4</c:f>
              <c:numCache>
                <c:formatCode>0.00%</c:formatCode>
                <c:ptCount val="3"/>
                <c:pt idx="0">
                  <c:v>0.65</c:v>
                </c:pt>
                <c:pt idx="1">
                  <c:v>0.27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5-4718-BF41-A2EC5F49B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ira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95568163954852"/>
          <c:y val="1.1423107867867922E-2"/>
          <c:w val="0.74388833084746042"/>
          <c:h val="0.8202123165998731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pattFill prst="narVert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4DD0-4F0A-A8A2-EFF8AC243956}"/>
              </c:ext>
            </c:extLst>
          </c:dPt>
          <c:dPt>
            <c:idx val="1"/>
            <c:invertIfNegative val="0"/>
            <c:bubble3D val="0"/>
            <c:spPr>
              <a:pattFill prst="narVert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4DD0-4F0A-A8A2-EFF8AC243956}"/>
              </c:ext>
            </c:extLst>
          </c:dPt>
          <c:dPt>
            <c:idx val="2"/>
            <c:invertIfNegative val="0"/>
            <c:bubble3D val="0"/>
            <c:spPr>
              <a:pattFill prst="narVert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4DD0-4F0A-A8A2-EFF8AC243956}"/>
              </c:ext>
            </c:extLst>
          </c:dPt>
          <c:dPt>
            <c:idx val="3"/>
            <c:invertIfNegative val="0"/>
            <c:bubble3D val="0"/>
            <c:spPr>
              <a:pattFill prst="narVert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4DD0-4F0A-A8A2-EFF8AC243956}"/>
              </c:ext>
            </c:extLst>
          </c:dPt>
          <c:cat>
            <c:strRef>
              <c:f>Planilha1!$A$2:$A$5</c:f>
              <c:strCache>
                <c:ptCount val="4"/>
                <c:pt idx="0">
                  <c:v>Acurácia</c:v>
                </c:pt>
                <c:pt idx="1">
                  <c:v>Precisão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Planilha1!$B$2:$B$5</c:f>
              <c:numCache>
                <c:formatCode>0.00%</c:formatCode>
                <c:ptCount val="4"/>
                <c:pt idx="0" formatCode="0%">
                  <c:v>0.87</c:v>
                </c:pt>
                <c:pt idx="1">
                  <c:v>0.93340000000000001</c:v>
                </c:pt>
                <c:pt idx="2" formatCode="0%">
                  <c:v>0.87</c:v>
                </c:pt>
                <c:pt idx="3">
                  <c:v>0.89739999999999998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1-4CC9-AB8D-EB7356715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7"/>
        <c:overlap val="-48"/>
        <c:axId val="720022079"/>
        <c:axId val="720018239"/>
      </c:barChart>
      <c:catAx>
        <c:axId val="720022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ira" pitchFamily="2" charset="0"/>
                <a:ea typeface="+mn-ea"/>
                <a:cs typeface="+mn-cs"/>
              </a:defRPr>
            </a:pPr>
            <a:endParaRPr lang="pt-BR"/>
          </a:p>
        </c:txPr>
        <c:crossAx val="720018239"/>
        <c:crosses val="autoZero"/>
        <c:auto val="1"/>
        <c:lblAlgn val="ctr"/>
        <c:lblOffset val="100"/>
        <c:noMultiLvlLbl val="0"/>
      </c:catAx>
      <c:valAx>
        <c:axId val="720018239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ira" pitchFamily="2" charset="0"/>
                <a:ea typeface="+mn-ea"/>
                <a:cs typeface="+mn-cs"/>
              </a:defRPr>
            </a:pPr>
            <a:endParaRPr lang="pt-BR"/>
          </a:p>
        </c:txPr>
        <c:crossAx val="720022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72010009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63" name="Google Shape;63;g3372010009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14B7E37-3272-B370-78FB-00728015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C6447D51-FD52-7EE8-6243-70A7CA5E7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3D2FC9E5-3D2D-EA53-9D95-862D4F8FF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31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17F6FD1-5154-CD93-9697-EB0CDF6B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8E4E529A-8803-F468-1B5C-4A24B57AB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67083B9A-7BFD-09DB-A0E0-E6E8AF7FE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388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D8EDEB5-17EB-58F0-43B2-56E9E1A7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B367AF06-868C-EFD9-7F4A-0123D538F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C6A1E6CF-CA67-F27D-891B-A124A023A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5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C10402-CA06-94D9-08F5-08CB9BC0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A4245F0A-1C38-997B-4A8A-24D75FDC2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417A864E-D059-8347-C63B-FA451F03D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612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73A32D7-9CD3-FAB7-8157-7F611A5F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A51E0725-CBFB-F846-7B2D-7DFE01A41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AF688C59-6A5F-C2D4-770B-25EA1FB44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474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5F6F09B-BDDE-B922-C51D-88B851FD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7D382E0E-1EF8-26E0-4208-F38F40F24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4B615D8D-332E-5662-FC60-131820869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431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5E39D7C-FB6E-D237-907B-7BC31387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B3B08577-0B89-0D62-CE9F-D3A9C8A88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9C672356-E7FF-72B1-CD30-E52F24541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67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41A029-0CBF-10FB-54A0-1AE497FE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EA286E39-0E3F-6CC1-0CD9-A2AAF7AAF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EE2B6AB5-4FA6-6CEA-AF93-FC5E39079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28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aira"/>
              <a:buNone/>
              <a:defRPr sz="1400" b="0" i="0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aira"/>
              <a:buNone/>
              <a:defRPr sz="4400" b="0" i="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4489707" y="4903503"/>
            <a:ext cx="1599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_1">
  <p:cSld name="TITLE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69114C-2CF2-D140-0302-24F14A8E29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992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Conteúdo Interno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203170" y="-13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7108170" y="-13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9997700" y="-12"/>
            <a:ext cx="458400" cy="458400"/>
          </a:xfrm>
          <a:prstGeom prst="ellipse">
            <a:avLst/>
          </a:prstGeom>
          <a:solidFill>
            <a:srgbClr val="4D4B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8" name="Google Shape;68;p16"/>
          <p:cNvSpPr/>
          <p:nvPr/>
        </p:nvSpPr>
        <p:spPr>
          <a:xfrm>
            <a:off x="9997700" y="605338"/>
            <a:ext cx="458400" cy="458400"/>
          </a:xfrm>
          <a:prstGeom prst="ellipse">
            <a:avLst/>
          </a:prstGeom>
          <a:solidFill>
            <a:srgbClr val="008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9" name="Google Shape;69;p16"/>
          <p:cNvSpPr/>
          <p:nvPr/>
        </p:nvSpPr>
        <p:spPr>
          <a:xfrm>
            <a:off x="9997700" y="1161263"/>
            <a:ext cx="458400" cy="458400"/>
          </a:xfrm>
          <a:prstGeom prst="ellipse">
            <a:avLst/>
          </a:prstGeom>
          <a:solidFill>
            <a:srgbClr val="00B9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grpSp>
        <p:nvGrpSpPr>
          <p:cNvPr id="72" name="Google Shape;72;p16"/>
          <p:cNvGrpSpPr/>
          <p:nvPr/>
        </p:nvGrpSpPr>
        <p:grpSpPr>
          <a:xfrm>
            <a:off x="9859800" y="-1195024"/>
            <a:ext cx="2587668" cy="591000"/>
            <a:chOff x="3150" y="1411"/>
            <a:chExt cx="1839" cy="420"/>
          </a:xfrm>
        </p:grpSpPr>
        <p:sp>
          <p:nvSpPr>
            <p:cNvPr id="73" name="Google Shape;73;p16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6"/>
          <p:cNvSpPr txBox="1"/>
          <p:nvPr/>
        </p:nvSpPr>
        <p:spPr>
          <a:xfrm>
            <a:off x="2105747" y="4370525"/>
            <a:ext cx="4021873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434343"/>
                </a:solidFill>
              </a:rPr>
              <a:t>Resultados Esperados (CRISP-DM)</a:t>
            </a:r>
            <a:endParaRPr lang="en-US" sz="1600" dirty="0">
              <a:solidFill>
                <a:srgbClr val="434343"/>
              </a:solidFill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1771576" y="1025051"/>
            <a:ext cx="2187675" cy="499625"/>
            <a:chOff x="3150" y="1411"/>
            <a:chExt cx="1839" cy="420"/>
          </a:xfrm>
        </p:grpSpPr>
        <p:sp>
          <p:nvSpPr>
            <p:cNvPr id="85" name="Google Shape;85;p16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6"/>
          <p:cNvSpPr/>
          <p:nvPr/>
        </p:nvSpPr>
        <p:spPr>
          <a:xfrm rot="5400000">
            <a:off x="-1084925" y="1674250"/>
            <a:ext cx="4062900" cy="1933800"/>
          </a:xfrm>
          <a:prstGeom prst="triangle">
            <a:avLst>
              <a:gd name="adj" fmla="val 50000"/>
            </a:avLst>
          </a:prstGeom>
          <a:solidFill>
            <a:srgbClr val="2FEB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-219888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105749" y="2236925"/>
            <a:ext cx="5502527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3600" b="1" dirty="0">
                <a:solidFill>
                  <a:srgbClr val="434343"/>
                </a:solidFill>
                <a:latin typeface="Saira"/>
                <a:ea typeface="Saira"/>
                <a:cs typeface="Saira"/>
                <a:sym typeface="Saira"/>
              </a:rPr>
              <a:t>Análise de Sentimentos em Apps Bancários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206254" y="73358"/>
            <a:ext cx="3571645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1. Entendimento do Negócio</a:t>
            </a:r>
            <a:endParaRPr sz="2000" b="1" dirty="0">
              <a:solidFill>
                <a:srgbClr val="434343"/>
              </a:solidFill>
              <a:latin typeface="Saira" pitchFamily="2" charset="0"/>
            </a:endParaRPr>
          </a:p>
        </p:txBody>
      </p:sp>
      <p:grpSp>
        <p:nvGrpSpPr>
          <p:cNvPr id="207" name="Google Shape;207;p19"/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2" name="Google Shape;2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59293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850" y="60817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0" y="62341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100" y="5381625"/>
            <a:ext cx="5715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50" y="57150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2610560-AD0A-52FC-28CE-E1A570FFF82D}"/>
              </a:ext>
            </a:extLst>
          </p:cNvPr>
          <p:cNvSpPr/>
          <p:nvPr/>
        </p:nvSpPr>
        <p:spPr>
          <a:xfrm>
            <a:off x="224114" y="1055600"/>
            <a:ext cx="1401459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Objetivo Central</a:t>
            </a:r>
            <a:endParaRPr lang="en-US" sz="1193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7ED2D93-50F5-8D87-4FA9-9702AE8FB35C}"/>
              </a:ext>
            </a:extLst>
          </p:cNvPr>
          <p:cNvSpPr/>
          <p:nvPr/>
        </p:nvSpPr>
        <p:spPr>
          <a:xfrm>
            <a:off x="224114" y="1482440"/>
            <a:ext cx="3314700" cy="900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93F49B1-F94E-0827-907D-F09B7C7F8040}"/>
              </a:ext>
            </a:extLst>
          </p:cNvPr>
          <p:cNvSpPr/>
          <p:nvPr/>
        </p:nvSpPr>
        <p:spPr>
          <a:xfrm>
            <a:off x="188394" y="1482439"/>
            <a:ext cx="36000" cy="900000"/>
          </a:xfrm>
          <a:prstGeom prst="rect">
            <a:avLst/>
          </a:prstGeom>
          <a:solidFill>
            <a:srgbClr val="028481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F55A91E-6C46-874C-DFF4-6FD7489F2FAD}"/>
              </a:ext>
            </a:extLst>
          </p:cNvPr>
          <p:cNvSpPr/>
          <p:nvPr/>
        </p:nvSpPr>
        <p:spPr>
          <a:xfrm>
            <a:off x="402708" y="1661032"/>
            <a:ext cx="2957513" cy="56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Transformar feedback textual </a:t>
            </a: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não estruturado</a:t>
            </a: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 em informações estruturadas e um </a:t>
            </a: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backlog priorizado</a:t>
            </a: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C918052-706D-61E4-CC81-A3901B315CDF}"/>
              </a:ext>
            </a:extLst>
          </p:cNvPr>
          <p:cNvSpPr/>
          <p:nvPr/>
        </p:nvSpPr>
        <p:spPr>
          <a:xfrm>
            <a:off x="224114" y="2704020"/>
            <a:ext cx="2025867" cy="27462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Justificativa Estratégica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F9DF804-BFB0-969F-42BD-F649768CD6D5}"/>
              </a:ext>
            </a:extLst>
          </p:cNvPr>
          <p:cNvSpPr/>
          <p:nvPr/>
        </p:nvSpPr>
        <p:spPr>
          <a:xfrm>
            <a:off x="240736" y="2979856"/>
            <a:ext cx="1109278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7043"/>
                </a:solidFill>
                <a:latin typeface="Saira" pitchFamily="2" charset="0"/>
              </a:rPr>
              <a:t>83,5%</a:t>
            </a:r>
            <a:endParaRPr lang="en-US" sz="28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175C703-A7EE-B996-1356-88524B56128C}"/>
              </a:ext>
            </a:extLst>
          </p:cNvPr>
          <p:cNvSpPr/>
          <p:nvPr/>
        </p:nvSpPr>
        <p:spPr>
          <a:xfrm>
            <a:off x="206254" y="3473258"/>
            <a:ext cx="333256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Das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avaliações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negativas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foram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correlacionadas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as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funcionalidades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negócio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para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recomendação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desenvolvimento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.  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879BE41-F84A-7E2D-D1FC-D860292ED993}"/>
              </a:ext>
            </a:extLst>
          </p:cNvPr>
          <p:cNvSpPr/>
          <p:nvPr/>
        </p:nvSpPr>
        <p:spPr>
          <a:xfrm>
            <a:off x="3967439" y="1055600"/>
            <a:ext cx="4543425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Ganhos</a:t>
            </a:r>
            <a:r>
              <a:rPr lang="en-US" sz="1193" b="1" dirty="0">
                <a:solidFill>
                  <a:srgbClr val="1E3A8A"/>
                </a:solidFill>
              </a:rPr>
              <a:t> </a:t>
            </a: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Esperados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DA8D020-1A57-E1E1-0013-EF121C4FA027}"/>
              </a:ext>
            </a:extLst>
          </p:cNvPr>
          <p:cNvSpPr/>
          <p:nvPr/>
        </p:nvSpPr>
        <p:spPr>
          <a:xfrm>
            <a:off x="3997559" y="1478977"/>
            <a:ext cx="4235632" cy="900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DE07C6D4-5ED9-4053-AC39-9C0C0F5C91FB}"/>
              </a:ext>
            </a:extLst>
          </p:cNvPr>
          <p:cNvSpPr/>
          <p:nvPr/>
        </p:nvSpPr>
        <p:spPr>
          <a:xfrm>
            <a:off x="4104714" y="1621853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7CA5AA0-4D96-9F1A-2DF5-EB17DE5E29A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4219014" y="1736153"/>
            <a:ext cx="200025" cy="200025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DEB2EA7-A84F-37C9-7B65-FDDA625D776E}"/>
              </a:ext>
            </a:extLst>
          </p:cNvPr>
          <p:cNvSpPr/>
          <p:nvPr/>
        </p:nvSpPr>
        <p:spPr>
          <a:xfrm>
            <a:off x="4676214" y="1621853"/>
            <a:ext cx="1373774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Priorização Inteligente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990976-5ED6-F58B-9B8B-716830023B81}"/>
              </a:ext>
            </a:extLst>
          </p:cNvPr>
          <p:cNvSpPr/>
          <p:nvPr/>
        </p:nvSpPr>
        <p:spPr>
          <a:xfrm>
            <a:off x="4676214" y="1873670"/>
            <a:ext cx="3515285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aira" pitchFamily="2" charset="0"/>
              </a:rPr>
              <a:t>Foco automático nos problemas de </a:t>
            </a:r>
            <a:r>
              <a:rPr lang="en-US" sz="1000" b="1" dirty="0">
                <a:solidFill>
                  <a:srgbClr val="028481"/>
                </a:solidFill>
                <a:latin typeface="Saira" pitchFamily="2" charset="0"/>
              </a:rPr>
              <a:t>maior impacto</a:t>
            </a:r>
            <a:r>
              <a:rPr lang="en-US" sz="1000" dirty="0">
                <a:solidFill>
                  <a:srgbClr val="028481"/>
                </a:solidFill>
                <a:latin typeface="Saira" pitchFamily="2" charset="0"/>
              </a:rPr>
              <a:t>, </a:t>
            </a:r>
            <a:r>
              <a:rPr lang="en-US" sz="1000" dirty="0">
                <a:solidFill>
                  <a:srgbClr val="4B5563"/>
                </a:solidFill>
                <a:latin typeface="Saira" pitchFamily="2" charset="0"/>
              </a:rPr>
              <a:t>otimizando a alocação de recursos de desenvolvimento.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F6A414-E705-9A37-58B3-919F32B87266}"/>
              </a:ext>
            </a:extLst>
          </p:cNvPr>
          <p:cNvSpPr/>
          <p:nvPr/>
        </p:nvSpPr>
        <p:spPr>
          <a:xfrm>
            <a:off x="4003530" y="2679017"/>
            <a:ext cx="4290781" cy="900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FD0191D-7E47-E725-F1EE-194B62128327}"/>
              </a:ext>
            </a:extLst>
          </p:cNvPr>
          <p:cNvSpPr/>
          <p:nvPr/>
        </p:nvSpPr>
        <p:spPr>
          <a:xfrm>
            <a:off x="4146405" y="2821893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A4D55676-AC2F-4B9A-DE39-AAFA5B37614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60705" y="2936193"/>
            <a:ext cx="200025" cy="200025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74729502-41A5-A50A-64B8-BC6B4A621C93}"/>
              </a:ext>
            </a:extLst>
          </p:cNvPr>
          <p:cNvSpPr/>
          <p:nvPr/>
        </p:nvSpPr>
        <p:spPr>
          <a:xfrm>
            <a:off x="4753624" y="2821893"/>
            <a:ext cx="1102866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Melhoria Contínua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6F4B181-66C9-4294-3C69-171AA8E639C5}"/>
              </a:ext>
            </a:extLst>
          </p:cNvPr>
          <p:cNvSpPr/>
          <p:nvPr/>
        </p:nvSpPr>
        <p:spPr>
          <a:xfrm>
            <a:off x="4717906" y="3073710"/>
            <a:ext cx="3371980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aira" pitchFamily="2" charset="0"/>
                <a:cs typeface="Arial" panose="020B0604020202020204" pitchFamily="34" charset="0"/>
              </a:rPr>
              <a:t>Geração de backlog automatizado para ação </a:t>
            </a:r>
            <a:r>
              <a:rPr lang="en-US" sz="1000" b="1" dirty="0">
                <a:solidFill>
                  <a:srgbClr val="028481"/>
                </a:solidFill>
                <a:latin typeface="Saira" pitchFamily="2" charset="0"/>
                <a:cs typeface="Arial" panose="020B0604020202020204" pitchFamily="34" charset="0"/>
              </a:rPr>
              <a:t>proativa</a:t>
            </a:r>
            <a:r>
              <a:rPr lang="en-US" sz="1000" dirty="0">
                <a:solidFill>
                  <a:srgbClr val="4B5563"/>
                </a:solidFill>
                <a:latin typeface="Saira" pitchFamily="2" charset="0"/>
                <a:cs typeface="Arial" panose="020B0604020202020204" pitchFamily="34" charset="0"/>
              </a:rPr>
              <a:t> sobre funcionalidades críticas.</a:t>
            </a:r>
            <a:endParaRPr lang="en-US" sz="1000" dirty="0">
              <a:latin typeface="Saira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87D89FBF-EBF6-3355-303A-6BA34FFD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0693D48-EE86-A591-987C-30308F6F24D0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3FC2F8AB-3F14-0EEF-C08C-E1F1D4D7374F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E41207D7-E2C7-F2D4-D60A-ACC7AF5C206C}"/>
              </a:ext>
            </a:extLst>
          </p:cNvPr>
          <p:cNvSpPr txBox="1"/>
          <p:nvPr/>
        </p:nvSpPr>
        <p:spPr>
          <a:xfrm>
            <a:off x="223912" y="75461"/>
            <a:ext cx="3721941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2. Entendimento dos Dados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52BE1B9B-D668-E47E-CFC5-19988D5C9F04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040A667B-9B87-0416-E180-7585F6FD61CA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7715F8F1-7CB2-670A-0505-E143D3F81CCE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BFED72EE-DD12-FA42-225E-2449A9732D42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51BC5C56-53B1-C88C-B8BC-122EA2C0143C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B7B4DB27-FB51-26B6-9513-856FD2A74FA9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3527CA11-1E3D-132F-3329-3FADBC23C641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7A9438FC-2367-16E5-776D-60FFB4AE1F7C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19205F2C-C1EE-1ECE-6997-219737F07D79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D18C1521-61DE-1E10-A0CB-1FDD39CA818B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Shape 2">
            <a:extLst>
              <a:ext uri="{FF2B5EF4-FFF2-40B4-BE49-F238E27FC236}">
                <a16:creationId xmlns:a16="http://schemas.microsoft.com/office/drawing/2014/main" id="{CDD0EE2C-90B6-B36F-3F1D-93A1037B711C}"/>
              </a:ext>
            </a:extLst>
          </p:cNvPr>
          <p:cNvSpPr/>
          <p:nvPr/>
        </p:nvSpPr>
        <p:spPr>
          <a:xfrm>
            <a:off x="211161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7565827F-F60E-2730-383B-004DCCE6032B}"/>
              </a:ext>
            </a:extLst>
          </p:cNvPr>
          <p:cNvSpPr/>
          <p:nvPr/>
        </p:nvSpPr>
        <p:spPr>
          <a:xfrm>
            <a:off x="354036" y="1243517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78A62351-1AE4-ED69-988E-6A642841E0D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57620" y="1336386"/>
            <a:ext cx="150019" cy="171450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FCCDF3FD-0D96-5C69-C4CB-A467EF36AFA7}"/>
              </a:ext>
            </a:extLst>
          </p:cNvPr>
          <p:cNvSpPr/>
          <p:nvPr/>
        </p:nvSpPr>
        <p:spPr>
          <a:xfrm>
            <a:off x="854099" y="1199762"/>
            <a:ext cx="310983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1.000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AD3B4B0B-6D8A-6DE8-461F-6392D453F08D}"/>
              </a:ext>
            </a:extLst>
          </p:cNvPr>
          <p:cNvSpPr/>
          <p:nvPr/>
        </p:nvSpPr>
        <p:spPr>
          <a:xfrm>
            <a:off x="854099" y="1432947"/>
            <a:ext cx="1625445" cy="121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Avaliações Processadas (MVP)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F26D3654-7EDA-647C-1C74-148E5C6C8E4C}"/>
              </a:ext>
            </a:extLst>
          </p:cNvPr>
          <p:cNvSpPr/>
          <p:nvPr/>
        </p:nvSpPr>
        <p:spPr>
          <a:xfrm>
            <a:off x="3035314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AA94F9B-8E30-133F-9325-AD2999DCFDD1}"/>
              </a:ext>
            </a:extLst>
          </p:cNvPr>
          <p:cNvSpPr/>
          <p:nvPr/>
        </p:nvSpPr>
        <p:spPr>
          <a:xfrm>
            <a:off x="3182961" y="1243517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95681A8C-7380-0BD3-02B1-5F0D6FCF781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275830" y="1336386"/>
            <a:ext cx="171450" cy="171450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94CC66CA-0A70-11ED-2CF6-E509425F5F43}"/>
              </a:ext>
            </a:extLst>
          </p:cNvPr>
          <p:cNvSpPr/>
          <p:nvPr/>
        </p:nvSpPr>
        <p:spPr>
          <a:xfrm>
            <a:off x="3683024" y="1199762"/>
            <a:ext cx="224420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266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623550C-1547-F680-2D62-0F2CEBA276DA}"/>
              </a:ext>
            </a:extLst>
          </p:cNvPr>
          <p:cNvSpPr/>
          <p:nvPr/>
        </p:nvSpPr>
        <p:spPr>
          <a:xfrm>
            <a:off x="3697053" y="1432947"/>
            <a:ext cx="1872830" cy="23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Problemas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Identificados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(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Polarização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Negativa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)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2E13B6D-22AC-DA2A-BF71-3DDE39F1799C}"/>
              </a:ext>
            </a:extLst>
          </p:cNvPr>
          <p:cNvSpPr/>
          <p:nvPr/>
        </p:nvSpPr>
        <p:spPr>
          <a:xfrm>
            <a:off x="5869011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FE5F8B74-93D1-82A6-F824-BEE3F762A207}"/>
              </a:ext>
            </a:extLst>
          </p:cNvPr>
          <p:cNvSpPr/>
          <p:nvPr/>
        </p:nvSpPr>
        <p:spPr>
          <a:xfrm>
            <a:off x="6021430" y="1236373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59268D0A-8EF5-6E80-6FA3-06E84EE3EA9B}"/>
              </a:ext>
            </a:extLst>
          </p:cNvPr>
          <p:cNvSpPr/>
          <p:nvPr/>
        </p:nvSpPr>
        <p:spPr>
          <a:xfrm>
            <a:off x="6521492" y="1192618"/>
            <a:ext cx="115416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13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5FFCBF28-E071-E4D5-BAE4-1ABB96B6F896}"/>
              </a:ext>
            </a:extLst>
          </p:cNvPr>
          <p:cNvSpPr/>
          <p:nvPr/>
        </p:nvSpPr>
        <p:spPr>
          <a:xfrm>
            <a:off x="6521492" y="1422230"/>
            <a:ext cx="1582159" cy="23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Categorias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Identificadas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(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Mapeamento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funcional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) 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53DC876-FECC-E855-7F11-E5856A3A87D5}"/>
              </a:ext>
            </a:extLst>
          </p:cNvPr>
          <p:cNvSpPr/>
          <p:nvPr/>
        </p:nvSpPr>
        <p:spPr>
          <a:xfrm>
            <a:off x="211161" y="2065941"/>
            <a:ext cx="1583767" cy="21608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Distribuição de Polaridade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0FDCD28-29E5-69C6-F19E-390513F8E79C}"/>
              </a:ext>
            </a:extLst>
          </p:cNvPr>
          <p:cNvSpPr/>
          <p:nvPr/>
        </p:nvSpPr>
        <p:spPr>
          <a:xfrm>
            <a:off x="3923811" y="2065941"/>
            <a:ext cx="1728037" cy="21608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Top 3 Problemas Prioritários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99816E8-546D-96BB-26DE-78D804B61CCA}"/>
              </a:ext>
            </a:extLst>
          </p:cNvPr>
          <p:cNvSpPr/>
          <p:nvPr/>
        </p:nvSpPr>
        <p:spPr>
          <a:xfrm>
            <a:off x="3923811" y="2632084"/>
            <a:ext cx="90088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1. Performance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37D2CF3D-6141-26B9-2920-BC213B45EEB7}"/>
              </a:ext>
            </a:extLst>
          </p:cNvPr>
          <p:cNvSpPr/>
          <p:nvPr/>
        </p:nvSpPr>
        <p:spPr>
          <a:xfrm>
            <a:off x="7542722" y="2717140"/>
            <a:ext cx="27411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42%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64FBE30-CCF2-BF76-5F37-F5C9BF26750E}"/>
              </a:ext>
            </a:extLst>
          </p:cNvPr>
          <p:cNvSpPr/>
          <p:nvPr/>
        </p:nvSpPr>
        <p:spPr>
          <a:xfrm>
            <a:off x="3923812" y="2864255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0F0E4BC2-3895-DAA6-32E0-65421A05AF9A}"/>
              </a:ext>
            </a:extLst>
          </p:cNvPr>
          <p:cNvSpPr/>
          <p:nvPr/>
        </p:nvSpPr>
        <p:spPr>
          <a:xfrm>
            <a:off x="3923811" y="2985699"/>
            <a:ext cx="388087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App travando, lentidão no carregamento, fechamento inesperado.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85BCA792-E4BD-364C-5151-E3C25F9FF84E}"/>
              </a:ext>
            </a:extLst>
          </p:cNvPr>
          <p:cNvSpPr/>
          <p:nvPr/>
        </p:nvSpPr>
        <p:spPr>
          <a:xfrm>
            <a:off x="3923811" y="3300024"/>
            <a:ext cx="13224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2. Login/Autenticação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D82BC26-A376-B189-56FE-272F58DA26A9}"/>
              </a:ext>
            </a:extLst>
          </p:cNvPr>
          <p:cNvSpPr/>
          <p:nvPr/>
        </p:nvSpPr>
        <p:spPr>
          <a:xfrm>
            <a:off x="7542722" y="3385080"/>
            <a:ext cx="24365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15%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6A692C49-E579-14F5-1C16-6F0534697AD0}"/>
              </a:ext>
            </a:extLst>
          </p:cNvPr>
          <p:cNvSpPr/>
          <p:nvPr/>
        </p:nvSpPr>
        <p:spPr>
          <a:xfrm>
            <a:off x="3923812" y="3532197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4E8BFFB-CE17-25CD-F19E-D2ABCAC7B364}"/>
              </a:ext>
            </a:extLst>
          </p:cNvPr>
          <p:cNvSpPr/>
          <p:nvPr/>
        </p:nvSpPr>
        <p:spPr>
          <a:xfrm>
            <a:off x="3923811" y="3653640"/>
            <a:ext cx="3265317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Problemas de acesso, recuperação de senha, biometria.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C3EE8A6E-615A-20C7-F3EA-2B0B43C5FEA3}"/>
              </a:ext>
            </a:extLst>
          </p:cNvPr>
          <p:cNvSpPr/>
          <p:nvPr/>
        </p:nvSpPr>
        <p:spPr>
          <a:xfrm>
            <a:off x="3923811" y="3967965"/>
            <a:ext cx="35907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3. PIX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CEAB1165-41DE-8F73-80B6-063465FC96D9}"/>
              </a:ext>
            </a:extLst>
          </p:cNvPr>
          <p:cNvSpPr/>
          <p:nvPr/>
        </p:nvSpPr>
        <p:spPr>
          <a:xfrm>
            <a:off x="7542722" y="4053021"/>
            <a:ext cx="315792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3,8%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E28D5671-7AA6-C42A-0F20-8D6D1AD326DE}"/>
              </a:ext>
            </a:extLst>
          </p:cNvPr>
          <p:cNvSpPr/>
          <p:nvPr/>
        </p:nvSpPr>
        <p:spPr>
          <a:xfrm>
            <a:off x="3923812" y="4226416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69096CF0-2897-DC05-FE15-75AD6F9FCB87}"/>
              </a:ext>
            </a:extLst>
          </p:cNvPr>
          <p:cNvSpPr/>
          <p:nvPr/>
        </p:nvSpPr>
        <p:spPr>
          <a:xfrm>
            <a:off x="3923811" y="4321581"/>
            <a:ext cx="326692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Erro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nas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transações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de PIX e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tetimeout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confirmação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. </a:t>
            </a:r>
            <a:endParaRPr lang="en-US" sz="1000" dirty="0">
              <a:latin typeface="Saira" pitchFamily="2" charset="0"/>
            </a:endParaRPr>
          </a:p>
        </p:txBody>
      </p:sp>
      <p:graphicFrame>
        <p:nvGraphicFramePr>
          <p:cNvPr id="62" name="Gráfico 61">
            <a:extLst>
              <a:ext uri="{FF2B5EF4-FFF2-40B4-BE49-F238E27FC236}">
                <a16:creationId xmlns:a16="http://schemas.microsoft.com/office/drawing/2014/main" id="{3F640DC6-B4D5-4DF3-C2D8-580426F1D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078655"/>
              </p:ext>
            </p:extLst>
          </p:nvPr>
        </p:nvGraphicFramePr>
        <p:xfrm>
          <a:off x="146338" y="2525219"/>
          <a:ext cx="3393811" cy="2217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" name="Google Shape;503;p30">
            <a:extLst>
              <a:ext uri="{FF2B5EF4-FFF2-40B4-BE49-F238E27FC236}">
                <a16:creationId xmlns:a16="http://schemas.microsoft.com/office/drawing/2014/main" id="{0F38D995-CB31-D62E-9306-E792BAC3C36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1487" y="1299301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342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07B05B-F560-A52B-2661-5A6F74D8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4CDF6216-D36C-5EA8-A55A-78A34AAA6060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CE13B31A-9276-7C38-6D4C-E8257B1A8C70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CDD60D3A-4FF3-706D-5DAD-3B37F90B4502}"/>
              </a:ext>
            </a:extLst>
          </p:cNvPr>
          <p:cNvSpPr txBox="1"/>
          <p:nvPr/>
        </p:nvSpPr>
        <p:spPr>
          <a:xfrm>
            <a:off x="223912" y="81053"/>
            <a:ext cx="3306100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3. Preparação dos Dados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52F77B8-7D1D-0C56-0977-0C9FF4A6BF05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4A117671-3E6F-D503-4432-E24B70846C18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782C73EC-CDFE-CBE1-DFE0-CF0CDE8BF771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79860A3F-6859-4AD7-B00A-2943E227F001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564BF56-1742-07DA-B5CA-3E5F72E59216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B60CAC9F-827F-2621-F136-099D7BD22FAB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602A7BFB-4CB9-C99C-8A95-8B39856E2126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776C4EF2-FCA6-447F-3C79-165E4097B685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C7E6E999-C6CB-FFA5-CBEF-70679D606341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68729A25-4272-EBE8-E803-B3AC5CA5400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6318BFE0-E189-6588-CD11-3D664E5AD4E5}"/>
              </a:ext>
            </a:extLst>
          </p:cNvPr>
          <p:cNvSpPr/>
          <p:nvPr/>
        </p:nvSpPr>
        <p:spPr>
          <a:xfrm>
            <a:off x="263189" y="1474722"/>
            <a:ext cx="3590014" cy="2611041"/>
          </a:xfrm>
          <a:prstGeom prst="rect">
            <a:avLst/>
          </a:prstGeom>
          <a:solidFill>
            <a:srgbClr val="F3F4F6"/>
          </a:solidFill>
          <a:ln w="18288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2A4893-94C0-01A2-21CD-D7F5D82D01EB}"/>
              </a:ext>
            </a:extLst>
          </p:cNvPr>
          <p:cNvSpPr/>
          <p:nvPr/>
        </p:nvSpPr>
        <p:spPr>
          <a:xfrm>
            <a:off x="1556802" y="1719396"/>
            <a:ext cx="77418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6B7280"/>
                </a:solidFill>
                <a:latin typeface="Saira" pitchFamily="2" charset="0"/>
              </a:rPr>
              <a:t>Estado Atual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94D698-E2E4-8BF5-4D7F-BABA73551E5B}"/>
              </a:ext>
            </a:extLst>
          </p:cNvPr>
          <p:cNvSpPr/>
          <p:nvPr/>
        </p:nvSpPr>
        <p:spPr>
          <a:xfrm>
            <a:off x="1636920" y="1858699"/>
            <a:ext cx="61395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28481"/>
                </a:solidFill>
                <a:latin typeface="Saira" pitchFamily="2" charset="0"/>
              </a:rPr>
              <a:t>Stack POC</a:t>
            </a:r>
            <a:endParaRPr lang="en-US" sz="10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9702DF-28D7-F152-1721-6E3EDE28639D}"/>
              </a:ext>
            </a:extLst>
          </p:cNvPr>
          <p:cNvSpPr/>
          <p:nvPr/>
        </p:nvSpPr>
        <p:spPr>
          <a:xfrm>
            <a:off x="477502" y="2428413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0E099AB-8421-C4CA-D80F-8A466A29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7" y="2535569"/>
            <a:ext cx="107156" cy="14287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B83E17B-C859-0C7E-CA1E-33F1A28B7711}"/>
              </a:ext>
            </a:extLst>
          </p:cNvPr>
          <p:cNvSpPr/>
          <p:nvPr/>
        </p:nvSpPr>
        <p:spPr>
          <a:xfrm>
            <a:off x="977564" y="2433771"/>
            <a:ext cx="94416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Arquivos Locais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1F5261B-F082-D673-C3F8-F57AA9F1C7B9}"/>
              </a:ext>
            </a:extLst>
          </p:cNvPr>
          <p:cNvSpPr/>
          <p:nvPr/>
        </p:nvSpPr>
        <p:spPr>
          <a:xfrm>
            <a:off x="977564" y="2644511"/>
            <a:ext cx="284052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Processamento batch de arquivos CSV manuais.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D9979F4-B692-2A5D-FE6E-D0CE0F3C0BEA}"/>
              </a:ext>
            </a:extLst>
          </p:cNvPr>
          <p:cNvSpPr/>
          <p:nvPr/>
        </p:nvSpPr>
        <p:spPr>
          <a:xfrm>
            <a:off x="477502" y="2964194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715BCA9-37C6-E6B6-2E17-401E4781B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98" y="3071350"/>
            <a:ext cx="178594" cy="1428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850A8472-8F0F-C3EC-2C0C-0C7870419F16}"/>
              </a:ext>
            </a:extLst>
          </p:cNvPr>
          <p:cNvSpPr/>
          <p:nvPr/>
        </p:nvSpPr>
        <p:spPr>
          <a:xfrm>
            <a:off x="977564" y="2969552"/>
            <a:ext cx="139461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Processamento Isolado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9B53C47-7DED-9507-C198-803B35E3859F}"/>
              </a:ext>
            </a:extLst>
          </p:cNvPr>
          <p:cNvSpPr/>
          <p:nvPr/>
        </p:nvSpPr>
        <p:spPr>
          <a:xfrm>
            <a:off x="977564" y="3180293"/>
            <a:ext cx="210634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Scripts Python rodando localmente.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DA1605A-EC70-9AC8-FC58-BA5C6C5FE291}"/>
              </a:ext>
            </a:extLst>
          </p:cNvPr>
          <p:cNvSpPr/>
          <p:nvPr/>
        </p:nvSpPr>
        <p:spPr>
          <a:xfrm>
            <a:off x="477502" y="3499975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1CAEE78B-FF55-FACD-DD87-B7DDAFBC5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17" y="3607132"/>
            <a:ext cx="107156" cy="142875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E85F0DC5-3511-0D24-21ED-C96C405BD870}"/>
              </a:ext>
            </a:extLst>
          </p:cNvPr>
          <p:cNvSpPr/>
          <p:nvPr/>
        </p:nvSpPr>
        <p:spPr>
          <a:xfrm>
            <a:off x="977564" y="3505333"/>
            <a:ext cx="85440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Saída Estática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322ECA5-2003-AE2A-1422-D82379A67512}"/>
              </a:ext>
            </a:extLst>
          </p:cNvPr>
          <p:cNvSpPr/>
          <p:nvPr/>
        </p:nvSpPr>
        <p:spPr>
          <a:xfrm>
            <a:off x="977564" y="3716074"/>
            <a:ext cx="1883529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Relatórios em CSV e Markdown.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CE5F87-93ED-7D71-87FC-562A05705BEB}"/>
              </a:ext>
            </a:extLst>
          </p:cNvPr>
          <p:cNvSpPr/>
          <p:nvPr/>
        </p:nvSpPr>
        <p:spPr>
          <a:xfrm>
            <a:off x="4026438" y="2607006"/>
            <a:ext cx="678098" cy="187523"/>
          </a:xfrm>
          <a:prstGeom prst="roundRect">
            <a:avLst/>
          </a:prstGeom>
          <a:solidFill>
            <a:srgbClr val="028481"/>
          </a:solidFill>
          <a:ln/>
        </p:spPr>
        <p:txBody>
          <a:bodyPr/>
          <a:lstStyle/>
          <a:p>
            <a:endParaRPr lang="pt-BR" dirty="0">
              <a:latin typeface="Saira" pitchFamily="2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8051936-16A5-8439-483E-93F575D28C39}"/>
              </a:ext>
            </a:extLst>
          </p:cNvPr>
          <p:cNvSpPr/>
          <p:nvPr/>
        </p:nvSpPr>
        <p:spPr>
          <a:xfrm>
            <a:off x="3976461" y="2624909"/>
            <a:ext cx="851333" cy="197490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ira" pitchFamily="2" charset="0"/>
              </a:rPr>
              <a:t>Evolução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4C907819-4750-7FEC-D9F9-5C6628DC44CE}"/>
              </a:ext>
            </a:extLst>
          </p:cNvPr>
          <p:cNvSpPr/>
          <p:nvPr/>
        </p:nvSpPr>
        <p:spPr>
          <a:xfrm>
            <a:off x="4874201" y="1474722"/>
            <a:ext cx="3742308" cy="2611041"/>
          </a:xfrm>
          <a:prstGeom prst="rect">
            <a:avLst/>
          </a:prstGeom>
          <a:solidFill>
            <a:srgbClr val="2FEBDE">
              <a:alpha val="6000"/>
            </a:srgbClr>
          </a:solidFill>
          <a:ln w="18288">
            <a:solidFill>
              <a:srgbClr val="028481"/>
            </a:solidFill>
            <a:prstDash val="solid"/>
          </a:ln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8028ABC-0C0C-31AA-D114-B9F832F9BBD8}"/>
              </a:ext>
            </a:extLst>
          </p:cNvPr>
          <p:cNvSpPr/>
          <p:nvPr/>
        </p:nvSpPr>
        <p:spPr>
          <a:xfrm>
            <a:off x="6221370" y="1719396"/>
            <a:ext cx="709938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6B7280"/>
                </a:solidFill>
                <a:latin typeface="Saira" pitchFamily="2" charset="0"/>
              </a:rPr>
              <a:t>Curto Prazo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D27E535-53A9-70B9-338E-0B706543876A}"/>
              </a:ext>
            </a:extLst>
          </p:cNvPr>
          <p:cNvSpPr/>
          <p:nvPr/>
        </p:nvSpPr>
        <p:spPr>
          <a:xfrm>
            <a:off x="6250929" y="1858699"/>
            <a:ext cx="65081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>
                <a:solidFill>
                  <a:srgbClr val="028481"/>
                </a:solidFill>
                <a:latin typeface="Saira" pitchFamily="2" charset="0"/>
              </a:rPr>
              <a:t>Stack MVP</a:t>
            </a:r>
            <a:endParaRPr lang="en-US" sz="10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2444C89-BAE9-95A1-E3CA-27E1F57956AD}"/>
              </a:ext>
            </a:extLst>
          </p:cNvPr>
          <p:cNvSpPr/>
          <p:nvPr/>
        </p:nvSpPr>
        <p:spPr>
          <a:xfrm>
            <a:off x="5102801" y="2428413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626B99D1-5CEA-2633-3F67-14C909539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8887" y="2535569"/>
            <a:ext cx="125016" cy="142875"/>
          </a:xfrm>
          <a:prstGeom prst="rect">
            <a:avLst/>
          </a:prstGeom>
        </p:spPr>
      </p:pic>
      <p:sp>
        <p:nvSpPr>
          <p:cNvPr id="43" name="Text 21">
            <a:extLst>
              <a:ext uri="{FF2B5EF4-FFF2-40B4-BE49-F238E27FC236}">
                <a16:creationId xmlns:a16="http://schemas.microsoft.com/office/drawing/2014/main" id="{64D64E14-7952-10EF-213D-5996A34F9244}"/>
              </a:ext>
            </a:extLst>
          </p:cNvPr>
          <p:cNvSpPr/>
          <p:nvPr/>
        </p:nvSpPr>
        <p:spPr>
          <a:xfrm>
            <a:off x="5602863" y="2433771"/>
            <a:ext cx="13753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PostgreSQL + pgvector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070C7D76-4DBC-C577-2BE6-C007AD49C6EB}"/>
              </a:ext>
            </a:extLst>
          </p:cNvPr>
          <p:cNvSpPr/>
          <p:nvPr/>
        </p:nvSpPr>
        <p:spPr>
          <a:xfrm>
            <a:off x="5602863" y="2644511"/>
            <a:ext cx="301364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Persistência estruturada de reviews e embeddings.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DFC2294F-99F3-36E4-CEFA-F953E0E67C0D}"/>
              </a:ext>
            </a:extLst>
          </p:cNvPr>
          <p:cNvSpPr/>
          <p:nvPr/>
        </p:nvSpPr>
        <p:spPr>
          <a:xfrm>
            <a:off x="5102801" y="2964194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5" descr="preencoded.png">
            <a:extLst>
              <a:ext uri="{FF2B5EF4-FFF2-40B4-BE49-F238E27FC236}">
                <a16:creationId xmlns:a16="http://schemas.microsoft.com/office/drawing/2014/main" id="{A13E719B-81D8-8847-AC8D-09929B5C79D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92097" y="3071350"/>
            <a:ext cx="178594" cy="142875"/>
          </a:xfrm>
          <a:prstGeom prst="rect">
            <a:avLst/>
          </a:prstGeom>
        </p:spPr>
      </p:pic>
      <p:sp>
        <p:nvSpPr>
          <p:cNvPr id="128" name="Text 24">
            <a:extLst>
              <a:ext uri="{FF2B5EF4-FFF2-40B4-BE49-F238E27FC236}">
                <a16:creationId xmlns:a16="http://schemas.microsoft.com/office/drawing/2014/main" id="{69D27C56-5ADA-128F-1925-53BF4B2EE22B}"/>
              </a:ext>
            </a:extLst>
          </p:cNvPr>
          <p:cNvSpPr/>
          <p:nvPr/>
        </p:nvSpPr>
        <p:spPr>
          <a:xfrm>
            <a:off x="5602863" y="2969552"/>
            <a:ext cx="12535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Ingestão Automática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29" name="Text 25">
            <a:extLst>
              <a:ext uri="{FF2B5EF4-FFF2-40B4-BE49-F238E27FC236}">
                <a16:creationId xmlns:a16="http://schemas.microsoft.com/office/drawing/2014/main" id="{15DA96D6-9566-4AAD-874C-CFF4040DCC96}"/>
              </a:ext>
            </a:extLst>
          </p:cNvPr>
          <p:cNvSpPr/>
          <p:nvPr/>
        </p:nvSpPr>
        <p:spPr>
          <a:xfrm>
            <a:off x="5602863" y="3180293"/>
            <a:ext cx="247183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Scrapers agendados para coleta contínua.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30" name="Shape 26">
            <a:extLst>
              <a:ext uri="{FF2B5EF4-FFF2-40B4-BE49-F238E27FC236}">
                <a16:creationId xmlns:a16="http://schemas.microsoft.com/office/drawing/2014/main" id="{9AB1EAA7-3F0E-65CD-C4B7-03A74691D621}"/>
              </a:ext>
            </a:extLst>
          </p:cNvPr>
          <p:cNvSpPr/>
          <p:nvPr/>
        </p:nvSpPr>
        <p:spPr>
          <a:xfrm>
            <a:off x="5102801" y="3499975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1" name="Image 6" descr="preencoded.png">
            <a:extLst>
              <a:ext uri="{FF2B5EF4-FFF2-40B4-BE49-F238E27FC236}">
                <a16:creationId xmlns:a16="http://schemas.microsoft.com/office/drawing/2014/main" id="{FA044A7F-66B3-2785-213D-9E340D687C1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5209957" y="3607132"/>
            <a:ext cx="142875" cy="142875"/>
          </a:xfrm>
          <a:prstGeom prst="rect">
            <a:avLst/>
          </a:prstGeom>
        </p:spPr>
      </p:pic>
      <p:sp>
        <p:nvSpPr>
          <p:cNvPr id="132" name="Text 27">
            <a:extLst>
              <a:ext uri="{FF2B5EF4-FFF2-40B4-BE49-F238E27FC236}">
                <a16:creationId xmlns:a16="http://schemas.microsoft.com/office/drawing/2014/main" id="{B44A2BFE-C195-C46E-01E4-9B388AD59FA3}"/>
              </a:ext>
            </a:extLst>
          </p:cNvPr>
          <p:cNvSpPr/>
          <p:nvPr/>
        </p:nvSpPr>
        <p:spPr>
          <a:xfrm>
            <a:off x="5602863" y="3505333"/>
            <a:ext cx="11798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Analytics Avançado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33" name="Text 28">
            <a:extLst>
              <a:ext uri="{FF2B5EF4-FFF2-40B4-BE49-F238E27FC236}">
                <a16:creationId xmlns:a16="http://schemas.microsoft.com/office/drawing/2014/main" id="{ECD89103-F838-13E2-B79B-411C595FAE78}"/>
              </a:ext>
            </a:extLst>
          </p:cNvPr>
          <p:cNvSpPr/>
          <p:nvPr/>
        </p:nvSpPr>
        <p:spPr>
          <a:xfrm>
            <a:off x="5602863" y="3716074"/>
            <a:ext cx="249267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OpenSearch para busca full-text e análise.</a:t>
            </a:r>
            <a:endParaRPr lang="en-US" sz="1000" dirty="0">
              <a:latin typeface="Saira" pitchFamily="2" charset="0"/>
            </a:endParaRPr>
          </a:p>
        </p:txBody>
      </p:sp>
      <p:cxnSp>
        <p:nvCxnSpPr>
          <p:cNvPr id="135" name="Conector de Seta Reta 134">
            <a:extLst>
              <a:ext uri="{FF2B5EF4-FFF2-40B4-BE49-F238E27FC236}">
                <a16:creationId xmlns:a16="http://schemas.microsoft.com/office/drawing/2014/main" id="{9D1C6A61-7EAE-DEC1-284F-3598944A6F5E}"/>
              </a:ext>
            </a:extLst>
          </p:cNvPr>
          <p:cNvCxnSpPr/>
          <p:nvPr/>
        </p:nvCxnSpPr>
        <p:spPr>
          <a:xfrm>
            <a:off x="4063664" y="2907044"/>
            <a:ext cx="638175" cy="0"/>
          </a:xfrm>
          <a:prstGeom prst="straightConnector1">
            <a:avLst/>
          </a:prstGeom>
          <a:ln>
            <a:solidFill>
              <a:srgbClr val="0284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19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E58ECCF-C4C1-DAD3-B891-24F02569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38A5E45D-FFB1-3A79-72E3-B15C37C86998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09298CCF-7309-EE03-59BA-E1148473A748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BC8EEA2B-FCE3-07E4-433F-F9B47565AE96}"/>
              </a:ext>
            </a:extLst>
          </p:cNvPr>
          <p:cNvSpPr txBox="1"/>
          <p:nvPr/>
        </p:nvSpPr>
        <p:spPr>
          <a:xfrm>
            <a:off x="223912" y="105188"/>
            <a:ext cx="2316516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4. Modelagem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6191F59A-7380-8AE4-F035-78CF0118820B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3EF41C84-5FE6-8825-5873-9B3C41A99F10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EB639BDE-1C95-95AC-FBA9-913C86FBFFAC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EF821773-59C0-7961-8F8F-9DBF61687C19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45C45F77-B75E-DB2D-35D3-2C3F4A33F824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4891A6F1-A280-A6E6-C90F-BE45FB0CC938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D4C03E52-F112-ED3B-4E32-244EA3C17065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949DCC43-1EA6-8E0D-9270-FE3401CBCDEF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2ECF718C-9D92-65F0-2AFC-A1FA09EAD6FE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6B80204D-95A8-55A9-8697-D26DD02B916C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F2E5D72A-604E-CD7C-FF7A-A300CC6A9A55}"/>
              </a:ext>
            </a:extLst>
          </p:cNvPr>
          <p:cNvSpPr/>
          <p:nvPr/>
        </p:nvSpPr>
        <p:spPr>
          <a:xfrm>
            <a:off x="190472" y="1143000"/>
            <a:ext cx="2387212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628115E-F24E-A300-BE9C-B164420B212E}"/>
              </a:ext>
            </a:extLst>
          </p:cNvPr>
          <p:cNvSpPr/>
          <p:nvPr/>
        </p:nvSpPr>
        <p:spPr>
          <a:xfrm>
            <a:off x="190472" y="1143000"/>
            <a:ext cx="2387212" cy="480417"/>
          </a:xfrm>
          <a:prstGeom prst="rect">
            <a:avLst/>
          </a:prstGeom>
          <a:solidFill>
            <a:srgbClr val="2C9F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85B0986-23DD-7EEC-7872-8C763D637475}"/>
              </a:ext>
            </a:extLst>
          </p:cNvPr>
          <p:cNvSpPr/>
          <p:nvPr/>
        </p:nvSpPr>
        <p:spPr>
          <a:xfrm>
            <a:off x="190472" y="1143000"/>
            <a:ext cx="2387212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1. Análise de Sentimentos</a:t>
            </a:r>
            <a:endParaRPr lang="en-US" sz="987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049079C-63C1-DB9C-92AC-B99C041E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14" y="1837730"/>
            <a:ext cx="342900" cy="342900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81749A71-3D09-4C60-DD2C-ED30015DD4B3}"/>
              </a:ext>
            </a:extLst>
          </p:cNvPr>
          <p:cNvSpPr/>
          <p:nvPr/>
        </p:nvSpPr>
        <p:spPr>
          <a:xfrm>
            <a:off x="542218" y="2394942"/>
            <a:ext cx="1683693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3F67110-D16A-1F25-72C2-380BFCF36E09}"/>
              </a:ext>
            </a:extLst>
          </p:cNvPr>
          <p:cNvSpPr/>
          <p:nvPr/>
        </p:nvSpPr>
        <p:spPr>
          <a:xfrm>
            <a:off x="542218" y="2394942"/>
            <a:ext cx="1683693" cy="38106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 err="1">
                <a:solidFill>
                  <a:srgbClr val="353535"/>
                </a:solidFill>
              </a:rPr>
              <a:t>cardiffnlp</a:t>
            </a:r>
            <a:r>
              <a:rPr lang="en-US" sz="885" b="1" dirty="0">
                <a:solidFill>
                  <a:srgbClr val="353535"/>
                </a:solidFill>
              </a:rPr>
              <a:t>/twitter-</a:t>
            </a:r>
            <a:r>
              <a:rPr lang="en-US" sz="885" b="1" dirty="0" err="1">
                <a:solidFill>
                  <a:srgbClr val="353535"/>
                </a:solidFill>
              </a:rPr>
              <a:t>xlm</a:t>
            </a:r>
            <a:r>
              <a:rPr lang="en-US" sz="885" b="1" dirty="0">
                <a:solidFill>
                  <a:srgbClr val="353535"/>
                </a:solidFill>
              </a:rPr>
              <a:t>-</a:t>
            </a:r>
            <a:r>
              <a:rPr lang="en-US" sz="885" b="1" dirty="0" err="1">
                <a:solidFill>
                  <a:srgbClr val="353535"/>
                </a:solidFill>
              </a:rPr>
              <a:t>roberta</a:t>
            </a:r>
            <a:r>
              <a:rPr lang="en-US" sz="885" b="1" dirty="0">
                <a:solidFill>
                  <a:srgbClr val="353535"/>
                </a:solidFill>
              </a:rPr>
              <a:t>-base-sentiment</a:t>
            </a:r>
            <a:endParaRPr lang="en-US" sz="885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EF73F7-5E0B-C5D9-6B72-EA29E6B4C26D}"/>
              </a:ext>
            </a:extLst>
          </p:cNvPr>
          <p:cNvSpPr/>
          <p:nvPr/>
        </p:nvSpPr>
        <p:spPr>
          <a:xfrm>
            <a:off x="404785" y="2898577"/>
            <a:ext cx="195858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353535"/>
                </a:solidFill>
              </a:rPr>
              <a:t>Classificação de polaridade em escala com alta precisão.</a:t>
            </a:r>
            <a:endParaRPr lang="en-US" sz="834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86ADE2-72E2-E1ED-5010-6B3A5751010B}"/>
              </a:ext>
            </a:extLst>
          </p:cNvPr>
          <p:cNvSpPr/>
          <p:nvPr/>
        </p:nvSpPr>
        <p:spPr>
          <a:xfrm>
            <a:off x="404785" y="3616523"/>
            <a:ext cx="19585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Output</a:t>
            </a:r>
            <a:endParaRPr lang="en-US" sz="62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084384-BE52-EDD0-4119-267160ACB9C1}"/>
              </a:ext>
            </a:extLst>
          </p:cNvPr>
          <p:cNvSpPr/>
          <p:nvPr/>
        </p:nvSpPr>
        <p:spPr>
          <a:xfrm>
            <a:off x="404785" y="3768328"/>
            <a:ext cx="1958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D7A6E"/>
                </a:solidFill>
              </a:rPr>
              <a:t>Positivo / Neutro / Negativo</a:t>
            </a:r>
            <a:endParaRPr lang="en-US" sz="784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85C046CA-7CB2-314D-C6EB-62330F952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559" y="2464594"/>
            <a:ext cx="133945" cy="214313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EFFB3F1B-7D4E-28F2-3CCC-8D012D489291}"/>
              </a:ext>
            </a:extLst>
          </p:cNvPr>
          <p:cNvSpPr/>
          <p:nvPr/>
        </p:nvSpPr>
        <p:spPr>
          <a:xfrm>
            <a:off x="2997380" y="1143000"/>
            <a:ext cx="2387212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9B4FADA-457B-A3F4-33F1-EEFB4804A189}"/>
              </a:ext>
            </a:extLst>
          </p:cNvPr>
          <p:cNvSpPr/>
          <p:nvPr/>
        </p:nvSpPr>
        <p:spPr>
          <a:xfrm>
            <a:off x="2997380" y="1143000"/>
            <a:ext cx="2387212" cy="480417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FDCED6-8FA4-15BD-EE85-80255ECE779D}"/>
              </a:ext>
            </a:extLst>
          </p:cNvPr>
          <p:cNvSpPr/>
          <p:nvPr/>
        </p:nvSpPr>
        <p:spPr>
          <a:xfrm>
            <a:off x="2997380" y="1143000"/>
            <a:ext cx="2387212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2. Categorização</a:t>
            </a:r>
            <a:endParaRPr lang="en-US" sz="987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4315E7B4-D7E9-2E05-44A6-FCD63C8CA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660" y="1837730"/>
            <a:ext cx="428625" cy="342900"/>
          </a:xfrm>
          <a:prstGeom prst="rect">
            <a:avLst/>
          </a:prstGeom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049B5BC6-FAB9-C88D-5379-767811A724BE}"/>
              </a:ext>
            </a:extLst>
          </p:cNvPr>
          <p:cNvSpPr/>
          <p:nvPr/>
        </p:nvSpPr>
        <p:spPr>
          <a:xfrm>
            <a:off x="3671376" y="2394942"/>
            <a:ext cx="1039220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F279B17-8948-2211-8D70-FD74920FAD71}"/>
              </a:ext>
            </a:extLst>
          </p:cNvPr>
          <p:cNvSpPr/>
          <p:nvPr/>
        </p:nvSpPr>
        <p:spPr>
          <a:xfrm>
            <a:off x="3671376" y="2394942"/>
            <a:ext cx="1039220" cy="24645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53535"/>
                </a:solidFill>
              </a:rPr>
              <a:t>GPT-4o (LLM)</a:t>
            </a:r>
            <a:endParaRPr lang="en-US" sz="885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FE4BE2B-7242-5346-EDEA-64EA641727F9}"/>
              </a:ext>
            </a:extLst>
          </p:cNvPr>
          <p:cNvSpPr/>
          <p:nvPr/>
        </p:nvSpPr>
        <p:spPr>
          <a:xfrm>
            <a:off x="3211692" y="2898577"/>
            <a:ext cx="195858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353535"/>
                </a:solidFill>
              </a:rPr>
              <a:t>Compreensão contextual para identificar a funcionalidade afetada.</a:t>
            </a:r>
            <a:endParaRPr lang="en-US" sz="834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39E5133C-53B0-EC63-E99E-429E299C744B}"/>
              </a:ext>
            </a:extLst>
          </p:cNvPr>
          <p:cNvSpPr/>
          <p:nvPr/>
        </p:nvSpPr>
        <p:spPr>
          <a:xfrm>
            <a:off x="3211692" y="3616523"/>
            <a:ext cx="19585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Output</a:t>
            </a:r>
            <a:endParaRPr lang="en-US" sz="621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42118E5-8442-F929-21C4-363257C2A49F}"/>
              </a:ext>
            </a:extLst>
          </p:cNvPr>
          <p:cNvSpPr/>
          <p:nvPr/>
        </p:nvSpPr>
        <p:spPr>
          <a:xfrm>
            <a:off x="3211692" y="3768328"/>
            <a:ext cx="1958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D7A6E"/>
                </a:solidFill>
              </a:rPr>
              <a:t>"Login", "PIX", "Performance"</a:t>
            </a:r>
            <a:endParaRPr lang="en-US" sz="784" dirty="0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D7FB4002-5A6D-58E4-0AFA-2FB5C7BEA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467" y="2464594"/>
            <a:ext cx="133945" cy="214313"/>
          </a:xfrm>
          <a:prstGeom prst="rect">
            <a:avLst/>
          </a:prstGeom>
        </p:spPr>
      </p:pic>
      <p:sp>
        <p:nvSpPr>
          <p:cNvPr id="24" name="Shape 19">
            <a:extLst>
              <a:ext uri="{FF2B5EF4-FFF2-40B4-BE49-F238E27FC236}">
                <a16:creationId xmlns:a16="http://schemas.microsoft.com/office/drawing/2014/main" id="{E6EA28B9-1ABC-FDCD-F4B2-B278A3DB80A8}"/>
              </a:ext>
            </a:extLst>
          </p:cNvPr>
          <p:cNvSpPr/>
          <p:nvPr/>
        </p:nvSpPr>
        <p:spPr>
          <a:xfrm>
            <a:off x="5804287" y="1143000"/>
            <a:ext cx="2387212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FBB1DF67-B1F8-B67F-DA02-8F2E9DD41377}"/>
              </a:ext>
            </a:extLst>
          </p:cNvPr>
          <p:cNvSpPr/>
          <p:nvPr/>
        </p:nvSpPr>
        <p:spPr>
          <a:xfrm>
            <a:off x="5804287" y="1143000"/>
            <a:ext cx="2387212" cy="480417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4E005DB-3DE9-17FB-9089-1F01C618F117}"/>
              </a:ext>
            </a:extLst>
          </p:cNvPr>
          <p:cNvSpPr/>
          <p:nvPr/>
        </p:nvSpPr>
        <p:spPr>
          <a:xfrm>
            <a:off x="5804287" y="1143000"/>
            <a:ext cx="2387212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3. Priorização</a:t>
            </a:r>
            <a:endParaRPr lang="en-US" sz="987" dirty="0"/>
          </a:p>
        </p:txBody>
      </p:sp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953C2ACE-1E49-F6CA-09E9-2737D0F8B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998" y="1837730"/>
            <a:ext cx="385763" cy="342900"/>
          </a:xfrm>
          <a:prstGeom prst="rect">
            <a:avLst/>
          </a:prstGeom>
        </p:spPr>
      </p:pic>
      <p:sp>
        <p:nvSpPr>
          <p:cNvPr id="60" name="Shape 22">
            <a:extLst>
              <a:ext uri="{FF2B5EF4-FFF2-40B4-BE49-F238E27FC236}">
                <a16:creationId xmlns:a16="http://schemas.microsoft.com/office/drawing/2014/main" id="{BEA980B7-4700-C361-361D-01A12E91EA2A}"/>
              </a:ext>
            </a:extLst>
          </p:cNvPr>
          <p:cNvSpPr/>
          <p:nvPr/>
        </p:nvSpPr>
        <p:spPr>
          <a:xfrm>
            <a:off x="6186060" y="2394942"/>
            <a:ext cx="1623640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3FB8DE0E-BEF7-0D66-7F66-1B674D0D93CD}"/>
              </a:ext>
            </a:extLst>
          </p:cNvPr>
          <p:cNvSpPr/>
          <p:nvPr/>
        </p:nvSpPr>
        <p:spPr>
          <a:xfrm>
            <a:off x="6186060" y="2394942"/>
            <a:ext cx="1623640" cy="24645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53535"/>
                </a:solidFill>
              </a:rPr>
              <a:t>Algoritmo de Impacto</a:t>
            </a:r>
            <a:endParaRPr lang="en-US" sz="885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A1DE0CED-6ECB-8497-CFA1-6605A8F600AF}"/>
              </a:ext>
            </a:extLst>
          </p:cNvPr>
          <p:cNvSpPr/>
          <p:nvPr/>
        </p:nvSpPr>
        <p:spPr>
          <a:xfrm>
            <a:off x="6018600" y="2898577"/>
            <a:ext cx="195858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353535"/>
                </a:solidFill>
              </a:rPr>
              <a:t>Cálculo baseado em frequência e severidade do problema.</a:t>
            </a:r>
            <a:endParaRPr lang="en-US" sz="834" dirty="0"/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99FD3453-1D6D-D2A1-9790-97F06D2A1F39}"/>
              </a:ext>
            </a:extLst>
          </p:cNvPr>
          <p:cNvSpPr/>
          <p:nvPr/>
        </p:nvSpPr>
        <p:spPr>
          <a:xfrm>
            <a:off x="6018600" y="3616523"/>
            <a:ext cx="19585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Output</a:t>
            </a:r>
            <a:endParaRPr lang="en-US" sz="621" dirty="0"/>
          </a:p>
        </p:txBody>
      </p:sp>
      <p:sp>
        <p:nvSpPr>
          <p:cNvPr id="129" name="Text 26">
            <a:extLst>
              <a:ext uri="{FF2B5EF4-FFF2-40B4-BE49-F238E27FC236}">
                <a16:creationId xmlns:a16="http://schemas.microsoft.com/office/drawing/2014/main" id="{64EA5A43-E8AD-A3BC-5697-151500775DC7}"/>
              </a:ext>
            </a:extLst>
          </p:cNvPr>
          <p:cNvSpPr/>
          <p:nvPr/>
        </p:nvSpPr>
        <p:spPr>
          <a:xfrm>
            <a:off x="6018600" y="3768328"/>
            <a:ext cx="1958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D7A6E"/>
                </a:solidFill>
              </a:rPr>
              <a:t>Backlog Ordenado</a:t>
            </a:r>
            <a:endParaRPr lang="en-US" sz="784" dirty="0"/>
          </a:p>
        </p:txBody>
      </p:sp>
      <p:sp>
        <p:nvSpPr>
          <p:cNvPr id="130" name="Text 2">
            <a:extLst>
              <a:ext uri="{FF2B5EF4-FFF2-40B4-BE49-F238E27FC236}">
                <a16:creationId xmlns:a16="http://schemas.microsoft.com/office/drawing/2014/main" id="{1CA0C7D1-6655-4C60-EDCE-CA209375387B}"/>
              </a:ext>
            </a:extLst>
          </p:cNvPr>
          <p:cNvSpPr/>
          <p:nvPr/>
        </p:nvSpPr>
        <p:spPr>
          <a:xfrm>
            <a:off x="190472" y="750124"/>
            <a:ext cx="1401459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Pipeline de IA</a:t>
            </a:r>
            <a:endParaRPr lang="en-US" sz="1193" dirty="0">
              <a:solidFill>
                <a:srgbClr val="434343"/>
              </a:solidFill>
              <a:latin typeface="Sai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7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8AB45E1-C371-E854-8BD6-C5F6ACEA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7B4D0E69-2D5B-98C7-3E60-B80F1E653A6C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7A4D0C35-4B37-D975-2276-13F4E252E2D4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893C9141-2EA8-CA09-8607-9FB3FA6C1547}"/>
              </a:ext>
            </a:extLst>
          </p:cNvPr>
          <p:cNvSpPr txBox="1"/>
          <p:nvPr/>
        </p:nvSpPr>
        <p:spPr>
          <a:xfrm>
            <a:off x="219073" y="77085"/>
            <a:ext cx="2247560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Avaliação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C721AA91-E901-5287-A1DA-F3470E2BE289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71A2717E-A529-3BA2-C5CC-C1EAB294BC87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D6D29512-9864-233B-E9DC-2E2F0F2181FD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627A9BBB-C3EC-80D2-E2D7-F7C42B8BF44C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ED4E04FF-A4E7-3855-3D9A-FB240D1C12C9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F779B8F2-5242-F5A8-767C-1000916B76AB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FC9E1E18-6BFB-5B0B-CF09-7FD86F767A0F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BF61F011-0F03-14A4-194C-684553E45C8D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BBA35A34-9C90-77A6-F9B4-C4B2C07BD521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E57AC3EC-8FB6-8B15-53D2-160F7C0BE06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Text 28">
            <a:extLst>
              <a:ext uri="{FF2B5EF4-FFF2-40B4-BE49-F238E27FC236}">
                <a16:creationId xmlns:a16="http://schemas.microsoft.com/office/drawing/2014/main" id="{E6B8F64E-7100-6850-74C5-A79EDCA7D5BE}"/>
              </a:ext>
            </a:extLst>
          </p:cNvPr>
          <p:cNvSpPr/>
          <p:nvPr/>
        </p:nvSpPr>
        <p:spPr>
          <a:xfrm>
            <a:off x="7874197" y="2952926"/>
            <a:ext cx="107402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" pitchFamily="2" charset="0"/>
              </a:rPr>
              <a:t>★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49" name="Text 2">
            <a:extLst>
              <a:ext uri="{FF2B5EF4-FFF2-40B4-BE49-F238E27FC236}">
                <a16:creationId xmlns:a16="http://schemas.microsoft.com/office/drawing/2014/main" id="{526157EB-12F6-2088-FF6D-920F38DB5561}"/>
              </a:ext>
            </a:extLst>
          </p:cNvPr>
          <p:cNvSpPr/>
          <p:nvPr/>
        </p:nvSpPr>
        <p:spPr>
          <a:xfrm>
            <a:off x="190498" y="715129"/>
            <a:ext cx="1247136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 Foco Principal (LLM)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0" name="Text 3">
            <a:extLst>
              <a:ext uri="{FF2B5EF4-FFF2-40B4-BE49-F238E27FC236}">
                <a16:creationId xmlns:a16="http://schemas.microsoft.com/office/drawing/2014/main" id="{D2032D30-DA29-3E72-1E90-1F6A66A138F1}"/>
              </a:ext>
            </a:extLst>
          </p:cNvPr>
          <p:cNvSpPr/>
          <p:nvPr/>
        </p:nvSpPr>
        <p:spPr>
          <a:xfrm>
            <a:off x="190498" y="966946"/>
            <a:ext cx="3786188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Garantir 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qualidade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da extração de features e 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precisão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categorização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funcional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do LLM.</a:t>
            </a:r>
          </a:p>
        </p:txBody>
      </p:sp>
      <p:sp>
        <p:nvSpPr>
          <p:cNvPr id="151" name="Text 4">
            <a:extLst>
              <a:ext uri="{FF2B5EF4-FFF2-40B4-BE49-F238E27FC236}">
                <a16:creationId xmlns:a16="http://schemas.microsoft.com/office/drawing/2014/main" id="{6FF1DA7B-1458-2AF7-330A-12DE7926407D}"/>
              </a:ext>
            </a:extLst>
          </p:cNvPr>
          <p:cNvSpPr/>
          <p:nvPr/>
        </p:nvSpPr>
        <p:spPr>
          <a:xfrm>
            <a:off x="190498" y="1418397"/>
            <a:ext cx="1352934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 Métricas de Validação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33124E30-2A06-5840-BB93-34371CF53BAF}"/>
              </a:ext>
            </a:extLst>
          </p:cNvPr>
          <p:cNvSpPr/>
          <p:nvPr/>
        </p:nvSpPr>
        <p:spPr>
          <a:xfrm>
            <a:off x="190498" y="1670215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3" name="Shape 6">
            <a:extLst>
              <a:ext uri="{FF2B5EF4-FFF2-40B4-BE49-F238E27FC236}">
                <a16:creationId xmlns:a16="http://schemas.microsoft.com/office/drawing/2014/main" id="{83F52127-66F1-DAC0-4598-9555811F86B9}"/>
              </a:ext>
            </a:extLst>
          </p:cNvPr>
          <p:cNvSpPr/>
          <p:nvPr/>
        </p:nvSpPr>
        <p:spPr>
          <a:xfrm>
            <a:off x="190497" y="1670215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4" name="Text 7">
            <a:extLst>
              <a:ext uri="{FF2B5EF4-FFF2-40B4-BE49-F238E27FC236}">
                <a16:creationId xmlns:a16="http://schemas.microsoft.com/office/drawing/2014/main" id="{F2DC27D3-A1B2-38E3-0682-05F50167015D}"/>
              </a:ext>
            </a:extLst>
          </p:cNvPr>
          <p:cNvSpPr/>
          <p:nvPr/>
        </p:nvSpPr>
        <p:spPr>
          <a:xfrm>
            <a:off x="261936" y="1741652"/>
            <a:ext cx="51456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Acurácia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11DC5C81-54EB-F142-98D5-E3BEC7967CAF}"/>
              </a:ext>
            </a:extLst>
          </p:cNvPr>
          <p:cNvSpPr/>
          <p:nvPr/>
        </p:nvSpPr>
        <p:spPr>
          <a:xfrm>
            <a:off x="261936" y="1911316"/>
            <a:ext cx="346409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Medida geral de acerto do LLM na categorização funcional.</a:t>
            </a:r>
          </a:p>
        </p:txBody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01EC95E9-E34D-029B-0DA5-E84099643BD2}"/>
              </a:ext>
            </a:extLst>
          </p:cNvPr>
          <p:cNvSpPr/>
          <p:nvPr/>
        </p:nvSpPr>
        <p:spPr>
          <a:xfrm>
            <a:off x="188665" y="2277451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7" name="Shape 10">
            <a:extLst>
              <a:ext uri="{FF2B5EF4-FFF2-40B4-BE49-F238E27FC236}">
                <a16:creationId xmlns:a16="http://schemas.microsoft.com/office/drawing/2014/main" id="{9048FB34-5AA7-1F62-3159-2BC7606A8D47}"/>
              </a:ext>
            </a:extLst>
          </p:cNvPr>
          <p:cNvSpPr/>
          <p:nvPr/>
        </p:nvSpPr>
        <p:spPr>
          <a:xfrm>
            <a:off x="188664" y="2277451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F7B7FF62-1B4F-D4CF-8E07-71246B5F3418}"/>
              </a:ext>
            </a:extLst>
          </p:cNvPr>
          <p:cNvSpPr/>
          <p:nvPr/>
        </p:nvSpPr>
        <p:spPr>
          <a:xfrm>
            <a:off x="260103" y="2348889"/>
            <a:ext cx="512961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Precisão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B5D19F42-7656-6685-575A-D6A5F919EC73}"/>
              </a:ext>
            </a:extLst>
          </p:cNvPr>
          <p:cNvSpPr/>
          <p:nvPr/>
        </p:nvSpPr>
        <p:spPr>
          <a:xfrm>
            <a:off x="260103" y="2485221"/>
            <a:ext cx="3714750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Proporção de categorias funcionais corretas entre as classificações positivas.</a:t>
            </a:r>
          </a:p>
        </p:txBody>
      </p:sp>
      <p:sp>
        <p:nvSpPr>
          <p:cNvPr id="160" name="Shape 13">
            <a:extLst>
              <a:ext uri="{FF2B5EF4-FFF2-40B4-BE49-F238E27FC236}">
                <a16:creationId xmlns:a16="http://schemas.microsoft.com/office/drawing/2014/main" id="{1D664721-B14E-4F7B-8620-5300767A8068}"/>
              </a:ext>
            </a:extLst>
          </p:cNvPr>
          <p:cNvSpPr/>
          <p:nvPr/>
        </p:nvSpPr>
        <p:spPr>
          <a:xfrm>
            <a:off x="188664" y="2885548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1" name="Shape 14">
            <a:extLst>
              <a:ext uri="{FF2B5EF4-FFF2-40B4-BE49-F238E27FC236}">
                <a16:creationId xmlns:a16="http://schemas.microsoft.com/office/drawing/2014/main" id="{1D75FDE6-3791-8B67-D1E2-34C7FA674E92}"/>
              </a:ext>
            </a:extLst>
          </p:cNvPr>
          <p:cNvSpPr/>
          <p:nvPr/>
        </p:nvSpPr>
        <p:spPr>
          <a:xfrm>
            <a:off x="188663" y="2885548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DA58D2F0-6DF0-BC48-75CC-6903B1B17291}"/>
              </a:ext>
            </a:extLst>
          </p:cNvPr>
          <p:cNvSpPr/>
          <p:nvPr/>
        </p:nvSpPr>
        <p:spPr>
          <a:xfrm>
            <a:off x="260102" y="2956986"/>
            <a:ext cx="112370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Revocação (Recall)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3" name="Text 16">
            <a:extLst>
              <a:ext uri="{FF2B5EF4-FFF2-40B4-BE49-F238E27FC236}">
                <a16:creationId xmlns:a16="http://schemas.microsoft.com/office/drawing/2014/main" id="{934CB5E6-F0CA-2B35-8F47-9CBDCB14F35D}"/>
              </a:ext>
            </a:extLst>
          </p:cNvPr>
          <p:cNvSpPr/>
          <p:nvPr/>
        </p:nvSpPr>
        <p:spPr>
          <a:xfrm>
            <a:off x="260102" y="3126650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Proporção de reclamações funcionais reais que foram corretamente identificadas.</a:t>
            </a:r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F374922F-8FD3-B389-F84D-0243468E8F69}"/>
              </a:ext>
            </a:extLst>
          </p:cNvPr>
          <p:cNvSpPr/>
          <p:nvPr/>
        </p:nvSpPr>
        <p:spPr>
          <a:xfrm>
            <a:off x="188663" y="3498079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5" name="Shape 18">
            <a:extLst>
              <a:ext uri="{FF2B5EF4-FFF2-40B4-BE49-F238E27FC236}">
                <a16:creationId xmlns:a16="http://schemas.microsoft.com/office/drawing/2014/main" id="{3B0DF2E4-6F47-A96A-D3D4-59F87776C42C}"/>
              </a:ext>
            </a:extLst>
          </p:cNvPr>
          <p:cNvSpPr/>
          <p:nvPr/>
        </p:nvSpPr>
        <p:spPr>
          <a:xfrm>
            <a:off x="188662" y="3498079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6" name="Text 19">
            <a:extLst>
              <a:ext uri="{FF2B5EF4-FFF2-40B4-BE49-F238E27FC236}">
                <a16:creationId xmlns:a16="http://schemas.microsoft.com/office/drawing/2014/main" id="{338266BA-6EBC-3F18-0CAF-C1222E6AA179}"/>
              </a:ext>
            </a:extLst>
          </p:cNvPr>
          <p:cNvSpPr/>
          <p:nvPr/>
        </p:nvSpPr>
        <p:spPr>
          <a:xfrm>
            <a:off x="260101" y="3569517"/>
            <a:ext cx="509755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F1-Score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F902EA63-36D6-4EDB-5798-CE2B2812C2AD}"/>
              </a:ext>
            </a:extLst>
          </p:cNvPr>
          <p:cNvSpPr/>
          <p:nvPr/>
        </p:nvSpPr>
        <p:spPr>
          <a:xfrm>
            <a:off x="260101" y="3739181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Métrica principal: equilíbrio entre Precisão e Revocação na tarefa de correlação.</a:t>
            </a: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6C98B96C-E751-93E5-7B35-7EC6A997674B}"/>
              </a:ext>
            </a:extLst>
          </p:cNvPr>
          <p:cNvSpPr/>
          <p:nvPr/>
        </p:nvSpPr>
        <p:spPr>
          <a:xfrm>
            <a:off x="193759" y="4143687"/>
            <a:ext cx="1457130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✓ Resultados Esperados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9" name="Text 25">
            <a:extLst>
              <a:ext uri="{FF2B5EF4-FFF2-40B4-BE49-F238E27FC236}">
                <a16:creationId xmlns:a16="http://schemas.microsoft.com/office/drawing/2014/main" id="{F77F9FD1-77F8-4C7C-3344-8A89BD182855}"/>
              </a:ext>
            </a:extLst>
          </p:cNvPr>
          <p:cNvSpPr/>
          <p:nvPr/>
        </p:nvSpPr>
        <p:spPr>
          <a:xfrm>
            <a:off x="4444130" y="715129"/>
            <a:ext cx="1253548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Desafio da Avaliação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70" name="Text 26">
            <a:extLst>
              <a:ext uri="{FF2B5EF4-FFF2-40B4-BE49-F238E27FC236}">
                <a16:creationId xmlns:a16="http://schemas.microsoft.com/office/drawing/2014/main" id="{BC376A70-5F60-BFCC-C333-131E330914CD}"/>
              </a:ext>
            </a:extLst>
          </p:cNvPr>
          <p:cNvSpPr/>
          <p:nvPr/>
        </p:nvSpPr>
        <p:spPr>
          <a:xfrm>
            <a:off x="4405311" y="1074102"/>
            <a:ext cx="3786188" cy="6431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A avaliação do LLM exige a criação de um dataset de teste rotulado por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humanos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para validar a qualidade do prompt engineering e a capacidade de extração de features complexas.</a:t>
            </a:r>
          </a:p>
        </p:txBody>
      </p:sp>
      <p:sp>
        <p:nvSpPr>
          <p:cNvPr id="172" name="Text 24">
            <a:extLst>
              <a:ext uri="{FF2B5EF4-FFF2-40B4-BE49-F238E27FC236}">
                <a16:creationId xmlns:a16="http://schemas.microsoft.com/office/drawing/2014/main" id="{8D8BF83A-A4FE-B65D-AC52-EB498AC7DE84}"/>
              </a:ext>
            </a:extLst>
          </p:cNvPr>
          <p:cNvSpPr/>
          <p:nvPr/>
        </p:nvSpPr>
        <p:spPr>
          <a:xfrm>
            <a:off x="190498" y="4341528"/>
            <a:ext cx="7636635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Validação da eficácia do LLM na correlação e geração de um backlog priorizado que discrimina as funcionalidades com maior volume de sentimentos negativos.</a:t>
            </a:r>
            <a:endParaRPr lang="en-US" sz="1000" dirty="0">
              <a:latin typeface="Saira" pitchFamily="2" charset="0"/>
            </a:endParaRPr>
          </a:p>
        </p:txBody>
      </p:sp>
      <p:graphicFrame>
        <p:nvGraphicFramePr>
          <p:cNvPr id="175" name="Gráfico 174">
            <a:extLst>
              <a:ext uri="{FF2B5EF4-FFF2-40B4-BE49-F238E27FC236}">
                <a16:creationId xmlns:a16="http://schemas.microsoft.com/office/drawing/2014/main" id="{B74939CE-A832-AC8C-B7AD-4605FA880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4284"/>
              </p:ext>
            </p:extLst>
          </p:nvPr>
        </p:nvGraphicFramePr>
        <p:xfrm>
          <a:off x="4438282" y="1707498"/>
          <a:ext cx="3543317" cy="22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2980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935C7B1-8B3A-DB87-877A-CA3D30F2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5191A3E9-11EA-1BA3-45AF-B9AC7559B42B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5040DA61-3652-DB9D-8538-D1D601110351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1B415B1E-7EF5-1389-8AD6-1AF47F238436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833"/>
              </a:lnSpc>
              <a:spcAft>
                <a:spcPts val="800"/>
              </a:spcAft>
              <a:buSzPts val="2800"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Resultado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88B2EAC1-77A9-2E5C-F01E-E92BF02E5F2C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43ACC4F4-6854-223B-47A4-225B01A540E2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C33E6E41-A16A-0AD8-EF20-2027C1EA4676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68894320-5871-515E-7829-81B71DA02131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37A77AB-44FF-41EC-790F-524FD5032481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15038FA1-B925-64E5-822E-2267D9106420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34367CCF-1AB2-1B42-717C-3C7310AEC62A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DBFEF8E5-11B2-F878-0188-146DCBF0BEB1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9DD2A573-B13C-3980-E12A-2F3BE077290D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1F9C4232-E90D-1715-97DB-5EC9B50BDD4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 2">
            <a:extLst>
              <a:ext uri="{FF2B5EF4-FFF2-40B4-BE49-F238E27FC236}">
                <a16:creationId xmlns:a16="http://schemas.microsoft.com/office/drawing/2014/main" id="{AAD5B705-FAAA-CC98-6C3E-5EEC8B805EB0}"/>
              </a:ext>
            </a:extLst>
          </p:cNvPr>
          <p:cNvSpPr/>
          <p:nvPr/>
        </p:nvSpPr>
        <p:spPr>
          <a:xfrm>
            <a:off x="190498" y="715129"/>
            <a:ext cx="306070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t-BR" sz="1000" dirty="0">
                <a:latin typeface="Saira" pitchFamily="2" charset="0"/>
              </a:rPr>
              <a:t>Backlog Priorizado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6D7E64-41DE-6C3D-1F1B-670094B32115}"/>
              </a:ext>
            </a:extLst>
          </p:cNvPr>
          <p:cNvSpPr/>
          <p:nvPr/>
        </p:nvSpPr>
        <p:spPr>
          <a:xfrm>
            <a:off x="190498" y="1116491"/>
            <a:ext cx="714375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#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5AC241-B660-D12D-730B-04DC0FD661DD}"/>
              </a:ext>
            </a:extLst>
          </p:cNvPr>
          <p:cNvSpPr/>
          <p:nvPr/>
        </p:nvSpPr>
        <p:spPr>
          <a:xfrm>
            <a:off x="904873" y="1116491"/>
            <a:ext cx="1986800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Categoria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42CFA4-19D3-4545-2783-3CCC33CF1FA0}"/>
              </a:ext>
            </a:extLst>
          </p:cNvPr>
          <p:cNvSpPr/>
          <p:nvPr/>
        </p:nvSpPr>
        <p:spPr>
          <a:xfrm>
            <a:off x="2891673" y="1116491"/>
            <a:ext cx="1443065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Impacto (Freq.)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1EF558-58E8-FCFF-B825-3ECEAB4320C3}"/>
              </a:ext>
            </a:extLst>
          </p:cNvPr>
          <p:cNvSpPr/>
          <p:nvPr/>
        </p:nvSpPr>
        <p:spPr>
          <a:xfrm>
            <a:off x="4334738" y="1116491"/>
            <a:ext cx="1157957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Severidade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D38AE5-5B8C-7974-ACC0-5F09997E630D}"/>
              </a:ext>
            </a:extLst>
          </p:cNvPr>
          <p:cNvSpPr/>
          <p:nvPr/>
        </p:nvSpPr>
        <p:spPr>
          <a:xfrm>
            <a:off x="5492695" y="1116491"/>
            <a:ext cx="1174728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Prioridade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814C41-2961-FE20-26B6-459F1F6AFF3D}"/>
              </a:ext>
            </a:extLst>
          </p:cNvPr>
          <p:cNvSpPr/>
          <p:nvPr/>
        </p:nvSpPr>
        <p:spPr>
          <a:xfrm>
            <a:off x="6667424" y="1116491"/>
            <a:ext cx="1524074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Sprint Sugerida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526BA2-7134-3945-9010-FC5C57034EF2}"/>
              </a:ext>
            </a:extLst>
          </p:cNvPr>
          <p:cNvSpPr/>
          <p:nvPr/>
        </p:nvSpPr>
        <p:spPr>
          <a:xfrm>
            <a:off x="190498" y="1359378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1FE500-C750-99AB-1E7D-EB8B59498723}"/>
              </a:ext>
            </a:extLst>
          </p:cNvPr>
          <p:cNvSpPr/>
          <p:nvPr/>
        </p:nvSpPr>
        <p:spPr>
          <a:xfrm>
            <a:off x="190498" y="1359378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1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2AC8DE-2754-3197-B6E4-FBE44CCE4DC0}"/>
              </a:ext>
            </a:extLst>
          </p:cNvPr>
          <p:cNvSpPr/>
          <p:nvPr/>
        </p:nvSpPr>
        <p:spPr>
          <a:xfrm>
            <a:off x="1047748" y="1502253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FD01EBD3-A096-DE95-B5DC-87E930D5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93" y="1580835"/>
            <a:ext cx="144661" cy="128588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790BD7E2-A47C-2578-B215-1B615742014D}"/>
              </a:ext>
            </a:extLst>
          </p:cNvPr>
          <p:cNvSpPr/>
          <p:nvPr/>
        </p:nvSpPr>
        <p:spPr>
          <a:xfrm>
            <a:off x="1440654" y="1557617"/>
            <a:ext cx="833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Performance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864A8D3-13FC-4FE8-3D24-16ABE91EDCD0}"/>
              </a:ext>
            </a:extLst>
          </p:cNvPr>
          <p:cNvSpPr/>
          <p:nvPr/>
        </p:nvSpPr>
        <p:spPr>
          <a:xfrm>
            <a:off x="3034548" y="1509397"/>
            <a:ext cx="185948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42%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623E803-4933-3439-B9F4-1C45F96679DD}"/>
              </a:ext>
            </a:extLst>
          </p:cNvPr>
          <p:cNvSpPr/>
          <p:nvPr/>
        </p:nvSpPr>
        <p:spPr>
          <a:xfrm>
            <a:off x="3034548" y="1664774"/>
            <a:ext cx="320601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112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A6BB5E4-4680-23B8-7278-015D911CF61E}"/>
              </a:ext>
            </a:extLst>
          </p:cNvPr>
          <p:cNvSpPr/>
          <p:nvPr/>
        </p:nvSpPr>
        <p:spPr>
          <a:xfrm>
            <a:off x="4477613" y="1509397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1.86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CB1C85E-D6A5-A3E6-2F35-016CC6F7BB22}"/>
              </a:ext>
            </a:extLst>
          </p:cNvPr>
          <p:cNvSpPr/>
          <p:nvPr/>
        </p:nvSpPr>
        <p:spPr>
          <a:xfrm>
            <a:off x="4477613" y="1664774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Crítico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1E377A7-BA0F-925B-9543-4C21800F4667}"/>
              </a:ext>
            </a:extLst>
          </p:cNvPr>
          <p:cNvSpPr/>
          <p:nvPr/>
        </p:nvSpPr>
        <p:spPr>
          <a:xfrm>
            <a:off x="5635570" y="1534400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3777B05-8306-0755-1A9A-4E6AF330B615}"/>
              </a:ext>
            </a:extLst>
          </p:cNvPr>
          <p:cNvSpPr/>
          <p:nvPr/>
        </p:nvSpPr>
        <p:spPr>
          <a:xfrm>
            <a:off x="5635570" y="1534400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C7FBC683-8286-12DB-7323-380E2B3D7506}"/>
              </a:ext>
            </a:extLst>
          </p:cNvPr>
          <p:cNvSpPr/>
          <p:nvPr/>
        </p:nvSpPr>
        <p:spPr>
          <a:xfrm>
            <a:off x="6810299" y="1540651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8ADAED1-E82F-E420-8047-369352C5BBA8}"/>
              </a:ext>
            </a:extLst>
          </p:cNvPr>
          <p:cNvSpPr/>
          <p:nvPr/>
        </p:nvSpPr>
        <p:spPr>
          <a:xfrm>
            <a:off x="6810299" y="1540651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F9637B8-A989-CB21-48B1-E59A54F70514}"/>
              </a:ext>
            </a:extLst>
          </p:cNvPr>
          <p:cNvSpPr/>
          <p:nvPr/>
        </p:nvSpPr>
        <p:spPr>
          <a:xfrm>
            <a:off x="190498" y="2038035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ABFC1FD-F0C1-FE3E-ACCD-09399B3489D1}"/>
              </a:ext>
            </a:extLst>
          </p:cNvPr>
          <p:cNvSpPr/>
          <p:nvPr/>
        </p:nvSpPr>
        <p:spPr>
          <a:xfrm>
            <a:off x="190498" y="2038035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2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BA0FCA6-00D3-CC50-858B-80B3DD993AF0}"/>
              </a:ext>
            </a:extLst>
          </p:cNvPr>
          <p:cNvSpPr/>
          <p:nvPr/>
        </p:nvSpPr>
        <p:spPr>
          <a:xfrm>
            <a:off x="1047748" y="2180910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64C28AFC-D1C6-2C98-D316-C97B9F52E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66" y="2259491"/>
            <a:ext cx="112514" cy="128588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06E4465F-609B-3B1A-22CE-51258BFC53E3}"/>
              </a:ext>
            </a:extLst>
          </p:cNvPr>
          <p:cNvSpPr/>
          <p:nvPr/>
        </p:nvSpPr>
        <p:spPr>
          <a:xfrm>
            <a:off x="1440654" y="2236274"/>
            <a:ext cx="7239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Login/Auth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C866AFD-4CC6-8076-6A57-8D78ED7DB63A}"/>
              </a:ext>
            </a:extLst>
          </p:cNvPr>
          <p:cNvSpPr/>
          <p:nvPr/>
        </p:nvSpPr>
        <p:spPr>
          <a:xfrm>
            <a:off x="3034548" y="2188053"/>
            <a:ext cx="185948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15%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913C455-E151-5510-A20B-3F5921594B3A}"/>
              </a:ext>
            </a:extLst>
          </p:cNvPr>
          <p:cNvSpPr/>
          <p:nvPr/>
        </p:nvSpPr>
        <p:spPr>
          <a:xfrm>
            <a:off x="3034548" y="2343430"/>
            <a:ext cx="280526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41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B68D473-7FC7-67C1-7490-9A8D17F63F4C}"/>
              </a:ext>
            </a:extLst>
          </p:cNvPr>
          <p:cNvSpPr/>
          <p:nvPr/>
        </p:nvSpPr>
        <p:spPr>
          <a:xfrm>
            <a:off x="4477613" y="2188053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1.79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257F154D-A117-75A3-C7D6-F0AFA90BB8AA}"/>
              </a:ext>
            </a:extLst>
          </p:cNvPr>
          <p:cNvSpPr/>
          <p:nvPr/>
        </p:nvSpPr>
        <p:spPr>
          <a:xfrm>
            <a:off x="4477613" y="2343430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Crítico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6724A5CB-EF86-54CB-CF55-CD7DF1ADD3D4}"/>
              </a:ext>
            </a:extLst>
          </p:cNvPr>
          <p:cNvSpPr/>
          <p:nvPr/>
        </p:nvSpPr>
        <p:spPr>
          <a:xfrm>
            <a:off x="5635570" y="2213056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D8CC6A50-075B-327D-519B-8DD6987CB280}"/>
              </a:ext>
            </a:extLst>
          </p:cNvPr>
          <p:cNvSpPr/>
          <p:nvPr/>
        </p:nvSpPr>
        <p:spPr>
          <a:xfrm>
            <a:off x="5635570" y="2213056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DED26EC-EB38-F90A-C144-192267B5838A}"/>
              </a:ext>
            </a:extLst>
          </p:cNvPr>
          <p:cNvSpPr/>
          <p:nvPr/>
        </p:nvSpPr>
        <p:spPr>
          <a:xfrm>
            <a:off x="6810299" y="2219307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DE6B6406-5D69-0FDD-605A-E734AA2528CE}"/>
              </a:ext>
            </a:extLst>
          </p:cNvPr>
          <p:cNvSpPr/>
          <p:nvPr/>
        </p:nvSpPr>
        <p:spPr>
          <a:xfrm>
            <a:off x="6810299" y="2219307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D07E4F65-13C5-4654-B0D2-009A9EF45223}"/>
              </a:ext>
            </a:extLst>
          </p:cNvPr>
          <p:cNvSpPr/>
          <p:nvPr/>
        </p:nvSpPr>
        <p:spPr>
          <a:xfrm>
            <a:off x="190498" y="2716691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B7A65EA3-68ED-EA33-942C-420979C0F424}"/>
              </a:ext>
            </a:extLst>
          </p:cNvPr>
          <p:cNvSpPr/>
          <p:nvPr/>
        </p:nvSpPr>
        <p:spPr>
          <a:xfrm>
            <a:off x="190498" y="2716691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3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70D6C3F8-BD85-4DFC-4F6A-5AE3995C154D}"/>
              </a:ext>
            </a:extLst>
          </p:cNvPr>
          <p:cNvSpPr/>
          <p:nvPr/>
        </p:nvSpPr>
        <p:spPr>
          <a:xfrm>
            <a:off x="1047748" y="2859566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B8253D50-A39C-D1D0-D6B6-1B0F111FE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29" y="2938147"/>
            <a:ext cx="128588" cy="128588"/>
          </a:xfrm>
          <a:prstGeom prst="rect">
            <a:avLst/>
          </a:prstGeom>
        </p:spPr>
      </p:pic>
      <p:sp>
        <p:nvSpPr>
          <p:cNvPr id="42" name="Text 36">
            <a:extLst>
              <a:ext uri="{FF2B5EF4-FFF2-40B4-BE49-F238E27FC236}">
                <a16:creationId xmlns:a16="http://schemas.microsoft.com/office/drawing/2014/main" id="{621FBA8D-C341-3314-0613-FE52B2A7D00F}"/>
              </a:ext>
            </a:extLst>
          </p:cNvPr>
          <p:cNvSpPr/>
          <p:nvPr/>
        </p:nvSpPr>
        <p:spPr>
          <a:xfrm>
            <a:off x="1440654" y="2914930"/>
            <a:ext cx="6744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Segurança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05016C1A-396D-D8D5-DC0A-857182CF192B}"/>
              </a:ext>
            </a:extLst>
          </p:cNvPr>
          <p:cNvSpPr/>
          <p:nvPr/>
        </p:nvSpPr>
        <p:spPr>
          <a:xfrm>
            <a:off x="3034548" y="2866710"/>
            <a:ext cx="131446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57AE1C57-7EB3-B8FA-F7E5-51DA95C0FF37}"/>
              </a:ext>
            </a:extLst>
          </p:cNvPr>
          <p:cNvSpPr/>
          <p:nvPr/>
        </p:nvSpPr>
        <p:spPr>
          <a:xfrm>
            <a:off x="3034548" y="3022086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7CBFA7AE-6450-1B90-4C62-B92FCB305E23}"/>
              </a:ext>
            </a:extLst>
          </p:cNvPr>
          <p:cNvSpPr/>
          <p:nvPr/>
        </p:nvSpPr>
        <p:spPr>
          <a:xfrm>
            <a:off x="4477613" y="2866710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1.00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70EBACA6-17A1-357C-64F2-B25E0ABE3235}"/>
              </a:ext>
            </a:extLst>
          </p:cNvPr>
          <p:cNvSpPr/>
          <p:nvPr/>
        </p:nvSpPr>
        <p:spPr>
          <a:xfrm>
            <a:off x="4477613" y="3022086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Extremo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6D15D3FE-54CE-9045-0F96-132EA89B9508}"/>
              </a:ext>
            </a:extLst>
          </p:cNvPr>
          <p:cNvSpPr/>
          <p:nvPr/>
        </p:nvSpPr>
        <p:spPr>
          <a:xfrm>
            <a:off x="5635570" y="2891713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EFBDF578-1291-A4F2-BBF7-A796C9E1D39B}"/>
              </a:ext>
            </a:extLst>
          </p:cNvPr>
          <p:cNvSpPr/>
          <p:nvPr/>
        </p:nvSpPr>
        <p:spPr>
          <a:xfrm>
            <a:off x="5635570" y="2891713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5C4A2ABF-AD1B-62FB-23DF-F908A82765DD}"/>
              </a:ext>
            </a:extLst>
          </p:cNvPr>
          <p:cNvSpPr/>
          <p:nvPr/>
        </p:nvSpPr>
        <p:spPr>
          <a:xfrm>
            <a:off x="6810299" y="2897963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DDBCB59D-E20A-0E4B-1ECB-4A5D842AC97A}"/>
              </a:ext>
            </a:extLst>
          </p:cNvPr>
          <p:cNvSpPr/>
          <p:nvPr/>
        </p:nvSpPr>
        <p:spPr>
          <a:xfrm>
            <a:off x="6810299" y="2897963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C2946DC9-61CB-E12E-9EDF-662E19D44257}"/>
              </a:ext>
            </a:extLst>
          </p:cNvPr>
          <p:cNvSpPr/>
          <p:nvPr/>
        </p:nvSpPr>
        <p:spPr>
          <a:xfrm>
            <a:off x="190498" y="3395347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6D38439B-0C33-A907-CF93-EF881344D64E}"/>
              </a:ext>
            </a:extLst>
          </p:cNvPr>
          <p:cNvSpPr/>
          <p:nvPr/>
        </p:nvSpPr>
        <p:spPr>
          <a:xfrm>
            <a:off x="190498" y="3395347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4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E1266356-ABEF-F613-7242-E7C94D1F43A4}"/>
              </a:ext>
            </a:extLst>
          </p:cNvPr>
          <p:cNvSpPr/>
          <p:nvPr/>
        </p:nvSpPr>
        <p:spPr>
          <a:xfrm>
            <a:off x="1047748" y="3538222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0ABCE016-D8C7-5727-3648-FD2B73A32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366" y="3616803"/>
            <a:ext cx="112514" cy="128588"/>
          </a:xfrm>
          <a:prstGeom prst="rect">
            <a:avLst/>
          </a:prstGeom>
        </p:spPr>
      </p:pic>
      <p:sp>
        <p:nvSpPr>
          <p:cNvPr id="55" name="Text 48">
            <a:extLst>
              <a:ext uri="{FF2B5EF4-FFF2-40B4-BE49-F238E27FC236}">
                <a16:creationId xmlns:a16="http://schemas.microsoft.com/office/drawing/2014/main" id="{F2BDE6AC-52E9-D356-8125-9EFD51BBEF56}"/>
              </a:ext>
            </a:extLst>
          </p:cNvPr>
          <p:cNvSpPr/>
          <p:nvPr/>
        </p:nvSpPr>
        <p:spPr>
          <a:xfrm>
            <a:off x="1440654" y="3593586"/>
            <a:ext cx="2165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PIX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9">
            <a:extLst>
              <a:ext uri="{FF2B5EF4-FFF2-40B4-BE49-F238E27FC236}">
                <a16:creationId xmlns:a16="http://schemas.microsoft.com/office/drawing/2014/main" id="{41AA1261-FB3C-616E-F36A-A5361B4CDDFA}"/>
              </a:ext>
            </a:extLst>
          </p:cNvPr>
          <p:cNvSpPr/>
          <p:nvPr/>
        </p:nvSpPr>
        <p:spPr>
          <a:xfrm>
            <a:off x="3034548" y="3545366"/>
            <a:ext cx="1603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2%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6B5732DF-FD84-3865-CF37-48C5F3C08927}"/>
              </a:ext>
            </a:extLst>
          </p:cNvPr>
          <p:cNvSpPr/>
          <p:nvPr/>
        </p:nvSpPr>
        <p:spPr>
          <a:xfrm>
            <a:off x="3034548" y="3700742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CB8F3317-ECBF-C94A-058B-C7FDA710A972}"/>
              </a:ext>
            </a:extLst>
          </p:cNvPr>
          <p:cNvSpPr/>
          <p:nvPr/>
        </p:nvSpPr>
        <p:spPr>
          <a:xfrm>
            <a:off x="4477613" y="3545366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2.75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2">
            <a:extLst>
              <a:ext uri="{FF2B5EF4-FFF2-40B4-BE49-F238E27FC236}">
                <a16:creationId xmlns:a16="http://schemas.microsoft.com/office/drawing/2014/main" id="{5218B813-1A95-E597-3ADF-DE61247C73C6}"/>
              </a:ext>
            </a:extLst>
          </p:cNvPr>
          <p:cNvSpPr/>
          <p:nvPr/>
        </p:nvSpPr>
        <p:spPr>
          <a:xfrm>
            <a:off x="4477613" y="3700742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Moderado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B90B0F77-95B9-A3A3-2105-CB82E5B58F16}"/>
              </a:ext>
            </a:extLst>
          </p:cNvPr>
          <p:cNvSpPr/>
          <p:nvPr/>
        </p:nvSpPr>
        <p:spPr>
          <a:xfrm>
            <a:off x="5635570" y="3570369"/>
            <a:ext cx="503718" cy="221456"/>
          </a:xfrm>
          <a:prstGeom prst="roundRect">
            <a:avLst/>
          </a:prstGeom>
          <a:solidFill>
            <a:srgbClr val="FFF8E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945B84D6-7EA6-2EC7-DA69-09B99909645F}"/>
              </a:ext>
            </a:extLst>
          </p:cNvPr>
          <p:cNvSpPr/>
          <p:nvPr/>
        </p:nvSpPr>
        <p:spPr>
          <a:xfrm>
            <a:off x="5635570" y="3570369"/>
            <a:ext cx="50371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A000"/>
                </a:solidFill>
                <a:latin typeface="Calibri" panose="020F0502020204030204"/>
                <a:ea typeface="+mn-ea"/>
                <a:cs typeface="+mn-cs"/>
              </a:rPr>
              <a:t>Média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D162CD8A-7EE3-415F-A5F0-E1D92C4E839C}"/>
              </a:ext>
            </a:extLst>
          </p:cNvPr>
          <p:cNvSpPr/>
          <p:nvPr/>
        </p:nvSpPr>
        <p:spPr>
          <a:xfrm>
            <a:off x="6810299" y="3576620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A31FC159-6381-9391-958F-7A606C0529E0}"/>
              </a:ext>
            </a:extLst>
          </p:cNvPr>
          <p:cNvSpPr/>
          <p:nvPr/>
        </p:nvSpPr>
        <p:spPr>
          <a:xfrm>
            <a:off x="6810299" y="3576620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2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Shape 57">
            <a:extLst>
              <a:ext uri="{FF2B5EF4-FFF2-40B4-BE49-F238E27FC236}">
                <a16:creationId xmlns:a16="http://schemas.microsoft.com/office/drawing/2014/main" id="{BECB870E-A94A-3E8D-15C2-79DE4C9F16A6}"/>
              </a:ext>
            </a:extLst>
          </p:cNvPr>
          <p:cNvSpPr/>
          <p:nvPr/>
        </p:nvSpPr>
        <p:spPr>
          <a:xfrm>
            <a:off x="190498" y="4074003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58">
            <a:extLst>
              <a:ext uri="{FF2B5EF4-FFF2-40B4-BE49-F238E27FC236}">
                <a16:creationId xmlns:a16="http://schemas.microsoft.com/office/drawing/2014/main" id="{A6D979FA-045D-C007-2EE9-47CCAB3FDCAE}"/>
              </a:ext>
            </a:extLst>
          </p:cNvPr>
          <p:cNvSpPr/>
          <p:nvPr/>
        </p:nvSpPr>
        <p:spPr>
          <a:xfrm>
            <a:off x="190498" y="4074003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5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Shape 59">
            <a:extLst>
              <a:ext uri="{FF2B5EF4-FFF2-40B4-BE49-F238E27FC236}">
                <a16:creationId xmlns:a16="http://schemas.microsoft.com/office/drawing/2014/main" id="{08E97B33-9ED6-DC54-EFE3-407FA5989226}"/>
              </a:ext>
            </a:extLst>
          </p:cNvPr>
          <p:cNvSpPr/>
          <p:nvPr/>
        </p:nvSpPr>
        <p:spPr>
          <a:xfrm>
            <a:off x="1047748" y="4216878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1" name="Image 5" descr="preencoded.png">
            <a:extLst>
              <a:ext uri="{FF2B5EF4-FFF2-40B4-BE49-F238E27FC236}">
                <a16:creationId xmlns:a16="http://schemas.microsoft.com/office/drawing/2014/main" id="{F4E965BC-DE8A-C1C8-C351-9C8F28A75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293" y="4295460"/>
            <a:ext cx="144661" cy="128588"/>
          </a:xfrm>
          <a:prstGeom prst="rect">
            <a:avLst/>
          </a:prstGeom>
        </p:spPr>
      </p:pic>
      <p:sp>
        <p:nvSpPr>
          <p:cNvPr id="132" name="Text 60">
            <a:extLst>
              <a:ext uri="{FF2B5EF4-FFF2-40B4-BE49-F238E27FC236}">
                <a16:creationId xmlns:a16="http://schemas.microsoft.com/office/drawing/2014/main" id="{E8EC768C-F567-74FA-929A-02A6F9B0B29D}"/>
              </a:ext>
            </a:extLst>
          </p:cNvPr>
          <p:cNvSpPr/>
          <p:nvPr/>
        </p:nvSpPr>
        <p:spPr>
          <a:xfrm>
            <a:off x="1440654" y="4272242"/>
            <a:ext cx="840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Empréstimos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Text 61">
            <a:extLst>
              <a:ext uri="{FF2B5EF4-FFF2-40B4-BE49-F238E27FC236}">
                <a16:creationId xmlns:a16="http://schemas.microsoft.com/office/drawing/2014/main" id="{5B2D940C-5D80-FFF8-2209-AD0F0679016B}"/>
              </a:ext>
            </a:extLst>
          </p:cNvPr>
          <p:cNvSpPr/>
          <p:nvPr/>
        </p:nvSpPr>
        <p:spPr>
          <a:xfrm>
            <a:off x="3034548" y="4224022"/>
            <a:ext cx="1603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 62">
            <a:extLst>
              <a:ext uri="{FF2B5EF4-FFF2-40B4-BE49-F238E27FC236}">
                <a16:creationId xmlns:a16="http://schemas.microsoft.com/office/drawing/2014/main" id="{F48FE128-6C16-2A19-2899-D70799676ED2}"/>
              </a:ext>
            </a:extLst>
          </p:cNvPr>
          <p:cNvSpPr/>
          <p:nvPr/>
        </p:nvSpPr>
        <p:spPr>
          <a:xfrm>
            <a:off x="3034548" y="4379399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8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 63">
            <a:extLst>
              <a:ext uri="{FF2B5EF4-FFF2-40B4-BE49-F238E27FC236}">
                <a16:creationId xmlns:a16="http://schemas.microsoft.com/office/drawing/2014/main" id="{6B402BB8-5768-FB5D-596A-0BF8EA27F91A}"/>
              </a:ext>
            </a:extLst>
          </p:cNvPr>
          <p:cNvSpPr/>
          <p:nvPr/>
        </p:nvSpPr>
        <p:spPr>
          <a:xfrm>
            <a:off x="4477613" y="4224022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1.50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ext 64">
            <a:extLst>
              <a:ext uri="{FF2B5EF4-FFF2-40B4-BE49-F238E27FC236}">
                <a16:creationId xmlns:a16="http://schemas.microsoft.com/office/drawing/2014/main" id="{58335208-3F19-7CEA-5F6D-BDA668FAC5A4}"/>
              </a:ext>
            </a:extLst>
          </p:cNvPr>
          <p:cNvSpPr/>
          <p:nvPr/>
        </p:nvSpPr>
        <p:spPr>
          <a:xfrm>
            <a:off x="4477613" y="4379399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Alto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Shape 65">
            <a:extLst>
              <a:ext uri="{FF2B5EF4-FFF2-40B4-BE49-F238E27FC236}">
                <a16:creationId xmlns:a16="http://schemas.microsoft.com/office/drawing/2014/main" id="{3F07F66E-158F-BB91-2A0D-F2A88F7FD29F}"/>
              </a:ext>
            </a:extLst>
          </p:cNvPr>
          <p:cNvSpPr/>
          <p:nvPr/>
        </p:nvSpPr>
        <p:spPr>
          <a:xfrm>
            <a:off x="5635570" y="4249025"/>
            <a:ext cx="503718" cy="221456"/>
          </a:xfrm>
          <a:prstGeom prst="roundRect">
            <a:avLst/>
          </a:prstGeom>
          <a:solidFill>
            <a:srgbClr val="FFF8E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ext 66">
            <a:extLst>
              <a:ext uri="{FF2B5EF4-FFF2-40B4-BE49-F238E27FC236}">
                <a16:creationId xmlns:a16="http://schemas.microsoft.com/office/drawing/2014/main" id="{5A6F11E4-A11A-9446-1A24-BE4F9DFCB30C}"/>
              </a:ext>
            </a:extLst>
          </p:cNvPr>
          <p:cNvSpPr/>
          <p:nvPr/>
        </p:nvSpPr>
        <p:spPr>
          <a:xfrm>
            <a:off x="5635570" y="4249025"/>
            <a:ext cx="50371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A000"/>
                </a:solidFill>
                <a:latin typeface="Calibri" panose="020F0502020204030204"/>
                <a:ea typeface="+mn-ea"/>
                <a:cs typeface="+mn-cs"/>
              </a:rPr>
              <a:t>Média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Shape 67">
            <a:extLst>
              <a:ext uri="{FF2B5EF4-FFF2-40B4-BE49-F238E27FC236}">
                <a16:creationId xmlns:a16="http://schemas.microsoft.com/office/drawing/2014/main" id="{5FCB146F-8EED-CFF4-84ED-B851996374E1}"/>
              </a:ext>
            </a:extLst>
          </p:cNvPr>
          <p:cNvSpPr/>
          <p:nvPr/>
        </p:nvSpPr>
        <p:spPr>
          <a:xfrm>
            <a:off x="6810299" y="4255276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 68">
            <a:extLst>
              <a:ext uri="{FF2B5EF4-FFF2-40B4-BE49-F238E27FC236}">
                <a16:creationId xmlns:a16="http://schemas.microsoft.com/office/drawing/2014/main" id="{36ED0B22-6A72-628E-F4C3-2661CBED6792}"/>
              </a:ext>
            </a:extLst>
          </p:cNvPr>
          <p:cNvSpPr/>
          <p:nvPr/>
        </p:nvSpPr>
        <p:spPr>
          <a:xfrm>
            <a:off x="6810299" y="4255276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2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98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FE75525-593F-D77C-FD0F-81E65B75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AC395CA3-2258-4C57-4194-478660D9722C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E9340791-2A15-A492-4B00-10B3B4618D22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0262BFFC-22CE-2EC6-6A27-D8B3377E6EB5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833"/>
              </a:lnSpc>
              <a:spcAft>
                <a:spcPts val="800"/>
              </a:spcAft>
              <a:buSzPts val="2800"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Resultado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FB8634A-16E0-C4F4-27C7-C824EACD5A81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3FFFE1DD-EBDE-EF20-BAD4-534CD6064239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87518D2E-F10F-00F0-5CD4-3384D153F50D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FBD4D6D2-5BE7-8CB1-2E97-036759AA1B50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E1B245F9-A562-E10B-1EF4-54C35A53CBD7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D90DD3F3-01D3-A3D0-EC0D-5EBA5F25FC14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9EA5AD0A-39C7-8D30-DF24-2D4942B63BBB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87A192A5-4CB3-C1E9-FD5A-B5C72DD66351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62117DEB-2923-1AFF-86ED-FABFDE895D86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B4B4B9C1-52CD-346B-134B-5C9C674F1B17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1467B72C-D817-D81A-EF3D-A05145F7CF5F}"/>
              </a:ext>
            </a:extLst>
          </p:cNvPr>
          <p:cNvSpPr/>
          <p:nvPr/>
        </p:nvSpPr>
        <p:spPr>
          <a:xfrm>
            <a:off x="283428" y="737021"/>
            <a:ext cx="3023776" cy="27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kern="0" spc="1" dirty="0">
                <a:solidFill>
                  <a:srgbClr val="434343"/>
                </a:solidFill>
              </a:rPr>
              <a:t>Deep Dive: Login/Autenticação</a:t>
            </a:r>
            <a:endParaRPr lang="en-US" sz="1600" dirty="0">
              <a:solidFill>
                <a:srgbClr val="434343"/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5E82FCD-D365-A1E6-8D98-7134BECECD9C}"/>
              </a:ext>
            </a:extLst>
          </p:cNvPr>
          <p:cNvSpPr/>
          <p:nvPr/>
        </p:nvSpPr>
        <p:spPr>
          <a:xfrm>
            <a:off x="516529" y="1227397"/>
            <a:ext cx="2839641" cy="13465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1" name="Shape 4">
            <a:extLst>
              <a:ext uri="{FF2B5EF4-FFF2-40B4-BE49-F238E27FC236}">
                <a16:creationId xmlns:a16="http://schemas.microsoft.com/office/drawing/2014/main" id="{4FF30858-467C-730D-605A-F6C0CF2CBCB7}"/>
              </a:ext>
            </a:extLst>
          </p:cNvPr>
          <p:cNvSpPr/>
          <p:nvPr/>
        </p:nvSpPr>
        <p:spPr>
          <a:xfrm>
            <a:off x="516529" y="1227397"/>
            <a:ext cx="2839641" cy="42863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2" name="Text 5">
            <a:extLst>
              <a:ext uri="{FF2B5EF4-FFF2-40B4-BE49-F238E27FC236}">
                <a16:creationId xmlns:a16="http://schemas.microsoft.com/office/drawing/2014/main" id="{8BCAD6A5-007A-E3EA-1F1A-A547C6C3B589}"/>
              </a:ext>
            </a:extLst>
          </p:cNvPr>
          <p:cNvSpPr/>
          <p:nvPr/>
        </p:nvSpPr>
        <p:spPr>
          <a:xfrm>
            <a:off x="730842" y="1441709"/>
            <a:ext cx="24110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6077"/>
                </a:solidFill>
              </a:rPr>
              <a:t>14%</a:t>
            </a:r>
            <a:endParaRPr lang="en-US" sz="3294" dirty="0"/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8F01BDD6-A1C4-E909-55F9-7917F8FA707B}"/>
              </a:ext>
            </a:extLst>
          </p:cNvPr>
          <p:cNvSpPr/>
          <p:nvPr/>
        </p:nvSpPr>
        <p:spPr>
          <a:xfrm>
            <a:off x="730842" y="1970347"/>
            <a:ext cx="24110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Das Reclamações</a:t>
            </a:r>
            <a:endParaRPr lang="en-US" sz="885" dirty="0"/>
          </a:p>
        </p:txBody>
      </p:sp>
      <p:sp>
        <p:nvSpPr>
          <p:cNvPr id="144" name="Text 7">
            <a:extLst>
              <a:ext uri="{FF2B5EF4-FFF2-40B4-BE49-F238E27FC236}">
                <a16:creationId xmlns:a16="http://schemas.microsoft.com/office/drawing/2014/main" id="{5C8A994C-CBA3-0CDE-BF66-52503075715F}"/>
              </a:ext>
            </a:extLst>
          </p:cNvPr>
          <p:cNvSpPr/>
          <p:nvPr/>
        </p:nvSpPr>
        <p:spPr>
          <a:xfrm>
            <a:off x="730842" y="2181087"/>
            <a:ext cx="24110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(28 Avaliações)</a:t>
            </a:r>
            <a:endParaRPr lang="en-US" sz="727" dirty="0"/>
          </a:p>
        </p:txBody>
      </p:sp>
      <p:sp>
        <p:nvSpPr>
          <p:cNvPr id="145" name="Shape 8">
            <a:extLst>
              <a:ext uri="{FF2B5EF4-FFF2-40B4-BE49-F238E27FC236}">
                <a16:creationId xmlns:a16="http://schemas.microsoft.com/office/drawing/2014/main" id="{2EB6E68D-ECA8-2870-87F1-09C362930A31}"/>
              </a:ext>
            </a:extLst>
          </p:cNvPr>
          <p:cNvSpPr/>
          <p:nvPr/>
        </p:nvSpPr>
        <p:spPr>
          <a:xfrm>
            <a:off x="516529" y="2745443"/>
            <a:ext cx="2839641" cy="13305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6" name="Text 9">
            <a:extLst>
              <a:ext uri="{FF2B5EF4-FFF2-40B4-BE49-F238E27FC236}">
                <a16:creationId xmlns:a16="http://schemas.microsoft.com/office/drawing/2014/main" id="{CD726159-3BC1-A7B2-CAE4-38BBE8C6A40E}"/>
              </a:ext>
            </a:extLst>
          </p:cNvPr>
          <p:cNvSpPr/>
          <p:nvPr/>
        </p:nvSpPr>
        <p:spPr>
          <a:xfrm>
            <a:off x="1324387" y="2924037"/>
            <a:ext cx="12238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Severidade Média</a:t>
            </a:r>
            <a:endParaRPr lang="en-US" sz="885" dirty="0"/>
          </a:p>
        </p:txBody>
      </p:sp>
      <p:sp>
        <p:nvSpPr>
          <p:cNvPr id="147" name="Text 10">
            <a:extLst>
              <a:ext uri="{FF2B5EF4-FFF2-40B4-BE49-F238E27FC236}">
                <a16:creationId xmlns:a16="http://schemas.microsoft.com/office/drawing/2014/main" id="{3ECD7E60-9BEE-AD04-4DDA-025B9EC65BDD}"/>
              </a:ext>
            </a:extLst>
          </p:cNvPr>
          <p:cNvSpPr/>
          <p:nvPr/>
        </p:nvSpPr>
        <p:spPr>
          <a:xfrm>
            <a:off x="1608658" y="3206215"/>
            <a:ext cx="65538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53535"/>
                </a:solidFill>
              </a:rPr>
              <a:t>1.79</a:t>
            </a:r>
            <a:r>
              <a:rPr lang="en-US" sz="987" b="1" dirty="0">
                <a:solidFill>
                  <a:srgbClr val="999999"/>
                </a:solidFill>
              </a:rPr>
              <a:t>/5</a:t>
            </a:r>
            <a:endParaRPr lang="en-US" sz="1808" dirty="0"/>
          </a:p>
        </p:txBody>
      </p:sp>
      <p:pic>
        <p:nvPicPr>
          <p:cNvPr id="148" name="Image 1" descr="preencoded.png">
            <a:extLst>
              <a:ext uri="{FF2B5EF4-FFF2-40B4-BE49-F238E27FC236}">
                <a16:creationId xmlns:a16="http://schemas.microsoft.com/office/drawing/2014/main" id="{706894C4-F3BF-8580-EBD9-1222F4D2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61" y="3695562"/>
            <a:ext cx="192881" cy="171450"/>
          </a:xfrm>
          <a:prstGeom prst="rect">
            <a:avLst/>
          </a:prstGeom>
        </p:spPr>
      </p:pic>
      <p:pic>
        <p:nvPicPr>
          <p:cNvPr id="149" name="Image 2" descr="preencoded.png">
            <a:extLst>
              <a:ext uri="{FF2B5EF4-FFF2-40B4-BE49-F238E27FC236}">
                <a16:creationId xmlns:a16="http://schemas.microsoft.com/office/drawing/2014/main" id="{15D60DB1-BAF2-D05C-326E-CF517691C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435" y="3695562"/>
            <a:ext cx="192881" cy="171450"/>
          </a:xfrm>
          <a:prstGeom prst="rect">
            <a:avLst/>
          </a:prstGeom>
        </p:spPr>
      </p:pic>
      <p:pic>
        <p:nvPicPr>
          <p:cNvPr id="150" name="Image 3" descr="preencoded.png">
            <a:extLst>
              <a:ext uri="{FF2B5EF4-FFF2-40B4-BE49-F238E27FC236}">
                <a16:creationId xmlns:a16="http://schemas.microsoft.com/office/drawing/2014/main" id="{DE56A34D-0C6D-F7EC-4778-938F2D222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909" y="3695562"/>
            <a:ext cx="192881" cy="171450"/>
          </a:xfrm>
          <a:prstGeom prst="rect">
            <a:avLst/>
          </a:prstGeom>
        </p:spPr>
      </p:pic>
      <p:pic>
        <p:nvPicPr>
          <p:cNvPr id="151" name="Image 4" descr="preencoded.png">
            <a:extLst>
              <a:ext uri="{FF2B5EF4-FFF2-40B4-BE49-F238E27FC236}">
                <a16:creationId xmlns:a16="http://schemas.microsoft.com/office/drawing/2014/main" id="{6E69E87A-095A-5778-5EAA-F4CB7736F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7383" y="3695562"/>
            <a:ext cx="192881" cy="171450"/>
          </a:xfrm>
          <a:prstGeom prst="rect">
            <a:avLst/>
          </a:prstGeom>
        </p:spPr>
      </p:pic>
      <p:pic>
        <p:nvPicPr>
          <p:cNvPr id="152" name="Image 5" descr="preencoded.png">
            <a:extLst>
              <a:ext uri="{FF2B5EF4-FFF2-40B4-BE49-F238E27FC236}">
                <a16:creationId xmlns:a16="http://schemas.microsoft.com/office/drawing/2014/main" id="{2DCCAE27-7899-0037-60DB-4940A72CA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4856" y="3695562"/>
            <a:ext cx="192881" cy="171450"/>
          </a:xfrm>
          <a:prstGeom prst="rect">
            <a:avLst/>
          </a:prstGeom>
        </p:spPr>
      </p:pic>
      <p:sp>
        <p:nvSpPr>
          <p:cNvPr id="153" name="Shape 11">
            <a:extLst>
              <a:ext uri="{FF2B5EF4-FFF2-40B4-BE49-F238E27FC236}">
                <a16:creationId xmlns:a16="http://schemas.microsoft.com/office/drawing/2014/main" id="{3C1E73F9-053B-C644-3B55-C084FCECB6E1}"/>
              </a:ext>
            </a:extLst>
          </p:cNvPr>
          <p:cNvSpPr/>
          <p:nvPr/>
        </p:nvSpPr>
        <p:spPr>
          <a:xfrm>
            <a:off x="848825" y="4361717"/>
            <a:ext cx="2175021" cy="376833"/>
          </a:xfrm>
          <a:prstGeom prst="roundRect">
            <a:avLst/>
          </a:prstGeom>
          <a:solidFill>
            <a:srgbClr val="FF634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4" name="Image 6" descr="preencoded.png">
            <a:extLst>
              <a:ext uri="{FF2B5EF4-FFF2-40B4-BE49-F238E27FC236}">
                <a16:creationId xmlns:a16="http://schemas.microsoft.com/office/drawing/2014/main" id="{CBFCE8BA-4FE3-D137-A8FB-1CB5F253C7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137" y="4465301"/>
            <a:ext cx="171450" cy="171450"/>
          </a:xfrm>
          <a:prstGeom prst="rect">
            <a:avLst/>
          </a:prstGeom>
        </p:spPr>
      </p:pic>
      <p:sp>
        <p:nvSpPr>
          <p:cNvPr id="155" name="Text 12">
            <a:extLst>
              <a:ext uri="{FF2B5EF4-FFF2-40B4-BE49-F238E27FC236}">
                <a16:creationId xmlns:a16="http://schemas.microsoft.com/office/drawing/2014/main" id="{95F97062-76A7-9BBD-B5DC-327878DDD85A}"/>
              </a:ext>
            </a:extLst>
          </p:cNvPr>
          <p:cNvSpPr/>
          <p:nvPr/>
        </p:nvSpPr>
        <p:spPr>
          <a:xfrm>
            <a:off x="1234587" y="4433154"/>
            <a:ext cx="1574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Prioridade Alta</a:t>
            </a:r>
            <a:endParaRPr lang="en-US" sz="1193" dirty="0"/>
          </a:p>
        </p:txBody>
      </p:sp>
      <p:sp>
        <p:nvSpPr>
          <p:cNvPr id="156" name="Text 13">
            <a:extLst>
              <a:ext uri="{FF2B5EF4-FFF2-40B4-BE49-F238E27FC236}">
                <a16:creationId xmlns:a16="http://schemas.microsoft.com/office/drawing/2014/main" id="{183AB3A0-E304-355E-D2AF-D99F13053744}"/>
              </a:ext>
            </a:extLst>
          </p:cNvPr>
          <p:cNvSpPr/>
          <p:nvPr/>
        </p:nvSpPr>
        <p:spPr>
          <a:xfrm>
            <a:off x="3839766" y="785813"/>
            <a:ext cx="4732734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6077"/>
                </a:solidFill>
              </a:rPr>
              <a:t>Barreira Crítica de Entrada</a:t>
            </a:r>
            <a:endParaRPr lang="en-US" sz="1397" dirty="0"/>
          </a:p>
        </p:txBody>
      </p:sp>
      <p:sp>
        <p:nvSpPr>
          <p:cNvPr id="157" name="Text 14">
            <a:extLst>
              <a:ext uri="{FF2B5EF4-FFF2-40B4-BE49-F238E27FC236}">
                <a16:creationId xmlns:a16="http://schemas.microsoft.com/office/drawing/2014/main" id="{D04E985E-7426-5A3C-0FF9-D2EBE516D312}"/>
              </a:ext>
            </a:extLst>
          </p:cNvPr>
          <p:cNvSpPr/>
          <p:nvPr/>
        </p:nvSpPr>
        <p:spPr>
          <a:xfrm>
            <a:off x="3839766" y="1309092"/>
            <a:ext cx="473273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Usuários relatam incapacidade total de acessar a conta, citando loops de "senha expirada" e falhas biométricas.</a:t>
            </a:r>
            <a:endParaRPr lang="en-US" sz="942" dirty="0"/>
          </a:p>
        </p:txBody>
      </p:sp>
      <p:sp>
        <p:nvSpPr>
          <p:cNvPr id="158" name="Shape 15">
            <a:extLst>
              <a:ext uri="{FF2B5EF4-FFF2-40B4-BE49-F238E27FC236}">
                <a16:creationId xmlns:a16="http://schemas.microsoft.com/office/drawing/2014/main" id="{2993A24E-9E8F-4256-6730-D226DF3D7025}"/>
              </a:ext>
            </a:extLst>
          </p:cNvPr>
          <p:cNvSpPr/>
          <p:nvPr/>
        </p:nvSpPr>
        <p:spPr>
          <a:xfrm>
            <a:off x="3839766" y="1837730"/>
            <a:ext cx="4732734" cy="8126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9" name="Shape 16">
            <a:extLst>
              <a:ext uri="{FF2B5EF4-FFF2-40B4-BE49-F238E27FC236}">
                <a16:creationId xmlns:a16="http://schemas.microsoft.com/office/drawing/2014/main" id="{5228A766-E473-00EF-0C1D-3D2454685E5D}"/>
              </a:ext>
            </a:extLst>
          </p:cNvPr>
          <p:cNvSpPr/>
          <p:nvPr/>
        </p:nvSpPr>
        <p:spPr>
          <a:xfrm>
            <a:off x="3839766" y="1837730"/>
            <a:ext cx="28575" cy="812602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0" name="Text 17">
            <a:extLst>
              <a:ext uri="{FF2B5EF4-FFF2-40B4-BE49-F238E27FC236}">
                <a16:creationId xmlns:a16="http://schemas.microsoft.com/office/drawing/2014/main" id="{BBFAFAA2-E56E-46BC-06C6-B594617B93E7}"/>
              </a:ext>
            </a:extLst>
          </p:cNvPr>
          <p:cNvSpPr/>
          <p:nvPr/>
        </p:nvSpPr>
        <p:spPr>
          <a:xfrm>
            <a:off x="3911203" y="1909167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61" name="Text 18">
            <a:extLst>
              <a:ext uri="{FF2B5EF4-FFF2-40B4-BE49-F238E27FC236}">
                <a16:creationId xmlns:a16="http://schemas.microsoft.com/office/drawing/2014/main" id="{BE26DAFC-CBE9-7CFF-0575-15092E962421}"/>
              </a:ext>
            </a:extLst>
          </p:cNvPr>
          <p:cNvSpPr/>
          <p:nvPr/>
        </p:nvSpPr>
        <p:spPr>
          <a:xfrm>
            <a:off x="4018359" y="1980605"/>
            <a:ext cx="4286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O aplicativo não está funcionando só fica dizendo que a senha expirou e o aplicativo</a:t>
            </a:r>
            <a:endParaRPr lang="en-US" sz="834" dirty="0"/>
          </a:p>
        </p:txBody>
      </p:sp>
      <p:sp>
        <p:nvSpPr>
          <p:cNvPr id="162" name="Text 19">
            <a:extLst>
              <a:ext uri="{FF2B5EF4-FFF2-40B4-BE49-F238E27FC236}">
                <a16:creationId xmlns:a16="http://schemas.microsoft.com/office/drawing/2014/main" id="{DEE15220-D521-89E8-6FDA-7C786F81065B}"/>
              </a:ext>
            </a:extLst>
          </p:cNvPr>
          <p:cNvSpPr/>
          <p:nvPr/>
        </p:nvSpPr>
        <p:spPr>
          <a:xfrm>
            <a:off x="4018359" y="2135981"/>
            <a:ext cx="5135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nem abre.</a:t>
            </a:r>
            <a:endParaRPr lang="en-US" sz="834" dirty="0"/>
          </a:p>
        </p:txBody>
      </p:sp>
      <p:sp>
        <p:nvSpPr>
          <p:cNvPr id="163" name="Shape 20">
            <a:extLst>
              <a:ext uri="{FF2B5EF4-FFF2-40B4-BE49-F238E27FC236}">
                <a16:creationId xmlns:a16="http://schemas.microsoft.com/office/drawing/2014/main" id="{4AC759D4-70DD-2E33-57A1-88F20D24B6D0}"/>
              </a:ext>
            </a:extLst>
          </p:cNvPr>
          <p:cNvSpPr/>
          <p:nvPr/>
        </p:nvSpPr>
        <p:spPr>
          <a:xfrm>
            <a:off x="4018359" y="2362795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64" name="Text 21">
            <a:extLst>
              <a:ext uri="{FF2B5EF4-FFF2-40B4-BE49-F238E27FC236}">
                <a16:creationId xmlns:a16="http://schemas.microsoft.com/office/drawing/2014/main" id="{7265D97A-1B83-049E-39AA-01AE3ABA81FD}"/>
              </a:ext>
            </a:extLst>
          </p:cNvPr>
          <p:cNvSpPr/>
          <p:nvPr/>
        </p:nvSpPr>
        <p:spPr>
          <a:xfrm>
            <a:off x="4018359" y="2362795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1/5</a:t>
            </a:r>
            <a:endParaRPr lang="en-US" sz="900" dirty="0"/>
          </a:p>
        </p:txBody>
      </p:sp>
      <p:sp>
        <p:nvSpPr>
          <p:cNvPr id="165" name="Shape 22">
            <a:extLst>
              <a:ext uri="{FF2B5EF4-FFF2-40B4-BE49-F238E27FC236}">
                <a16:creationId xmlns:a16="http://schemas.microsoft.com/office/drawing/2014/main" id="{9DBD53BE-7286-D0A5-666E-1FB982156FD6}"/>
              </a:ext>
            </a:extLst>
          </p:cNvPr>
          <p:cNvSpPr/>
          <p:nvPr/>
        </p:nvSpPr>
        <p:spPr>
          <a:xfrm>
            <a:off x="3839766" y="2828925"/>
            <a:ext cx="4732734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6" name="Shape 23">
            <a:extLst>
              <a:ext uri="{FF2B5EF4-FFF2-40B4-BE49-F238E27FC236}">
                <a16:creationId xmlns:a16="http://schemas.microsoft.com/office/drawing/2014/main" id="{951D5F43-08E1-BC4F-6D92-AA9595669108}"/>
              </a:ext>
            </a:extLst>
          </p:cNvPr>
          <p:cNvSpPr/>
          <p:nvPr/>
        </p:nvSpPr>
        <p:spPr>
          <a:xfrm>
            <a:off x="3839766" y="2828925"/>
            <a:ext cx="28575" cy="657225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7" name="Text 24">
            <a:extLst>
              <a:ext uri="{FF2B5EF4-FFF2-40B4-BE49-F238E27FC236}">
                <a16:creationId xmlns:a16="http://schemas.microsoft.com/office/drawing/2014/main" id="{E7BFAE4B-895A-04C6-3D98-7B083C749A22}"/>
              </a:ext>
            </a:extLst>
          </p:cNvPr>
          <p:cNvSpPr/>
          <p:nvPr/>
        </p:nvSpPr>
        <p:spPr>
          <a:xfrm>
            <a:off x="3911203" y="2900363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68" name="Text 25">
            <a:extLst>
              <a:ext uri="{FF2B5EF4-FFF2-40B4-BE49-F238E27FC236}">
                <a16:creationId xmlns:a16="http://schemas.microsoft.com/office/drawing/2014/main" id="{96BD1E1A-49EB-E148-C830-37D9914517DA}"/>
              </a:ext>
            </a:extLst>
          </p:cNvPr>
          <p:cNvSpPr/>
          <p:nvPr/>
        </p:nvSpPr>
        <p:spPr>
          <a:xfrm>
            <a:off x="4018359" y="2971800"/>
            <a:ext cx="1837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Não consigo entrar na minha conta.</a:t>
            </a:r>
            <a:endParaRPr lang="en-US" sz="834" dirty="0"/>
          </a:p>
        </p:txBody>
      </p:sp>
      <p:sp>
        <p:nvSpPr>
          <p:cNvPr id="169" name="Shape 26">
            <a:extLst>
              <a:ext uri="{FF2B5EF4-FFF2-40B4-BE49-F238E27FC236}">
                <a16:creationId xmlns:a16="http://schemas.microsoft.com/office/drawing/2014/main" id="{94F70EAC-29C6-261C-C054-5C0B1B15FA5D}"/>
              </a:ext>
            </a:extLst>
          </p:cNvPr>
          <p:cNvSpPr/>
          <p:nvPr/>
        </p:nvSpPr>
        <p:spPr>
          <a:xfrm>
            <a:off x="4018359" y="3198614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0" name="Text 27">
            <a:extLst>
              <a:ext uri="{FF2B5EF4-FFF2-40B4-BE49-F238E27FC236}">
                <a16:creationId xmlns:a16="http://schemas.microsoft.com/office/drawing/2014/main" id="{DE77D174-8909-D3C7-2FF4-46747BFFE0EF}"/>
              </a:ext>
            </a:extLst>
          </p:cNvPr>
          <p:cNvSpPr/>
          <p:nvPr/>
        </p:nvSpPr>
        <p:spPr>
          <a:xfrm>
            <a:off x="4018359" y="3198614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1/5</a:t>
            </a:r>
            <a:endParaRPr lang="en-US" sz="900" dirty="0"/>
          </a:p>
        </p:txBody>
      </p:sp>
      <p:sp>
        <p:nvSpPr>
          <p:cNvPr id="171" name="Shape 28">
            <a:extLst>
              <a:ext uri="{FF2B5EF4-FFF2-40B4-BE49-F238E27FC236}">
                <a16:creationId xmlns:a16="http://schemas.microsoft.com/office/drawing/2014/main" id="{A91834CA-787F-094A-D65C-D84F742CECA5}"/>
              </a:ext>
            </a:extLst>
          </p:cNvPr>
          <p:cNvSpPr/>
          <p:nvPr/>
        </p:nvSpPr>
        <p:spPr>
          <a:xfrm>
            <a:off x="3839766" y="3664744"/>
            <a:ext cx="4732734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2" name="Shape 29">
            <a:extLst>
              <a:ext uri="{FF2B5EF4-FFF2-40B4-BE49-F238E27FC236}">
                <a16:creationId xmlns:a16="http://schemas.microsoft.com/office/drawing/2014/main" id="{12715487-1027-42E4-608A-B0AEF3DDCA68}"/>
              </a:ext>
            </a:extLst>
          </p:cNvPr>
          <p:cNvSpPr/>
          <p:nvPr/>
        </p:nvSpPr>
        <p:spPr>
          <a:xfrm>
            <a:off x="3839766" y="3664744"/>
            <a:ext cx="28575" cy="657225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3" name="Text 30">
            <a:extLst>
              <a:ext uri="{FF2B5EF4-FFF2-40B4-BE49-F238E27FC236}">
                <a16:creationId xmlns:a16="http://schemas.microsoft.com/office/drawing/2014/main" id="{089BB7E3-8267-43B3-E44B-079C5AB415DD}"/>
              </a:ext>
            </a:extLst>
          </p:cNvPr>
          <p:cNvSpPr/>
          <p:nvPr/>
        </p:nvSpPr>
        <p:spPr>
          <a:xfrm>
            <a:off x="3911203" y="3736181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74" name="Text 31">
            <a:extLst>
              <a:ext uri="{FF2B5EF4-FFF2-40B4-BE49-F238E27FC236}">
                <a16:creationId xmlns:a16="http://schemas.microsoft.com/office/drawing/2014/main" id="{F4FF6042-CADB-243C-BFC2-49B00C55520F}"/>
              </a:ext>
            </a:extLst>
          </p:cNvPr>
          <p:cNvSpPr/>
          <p:nvPr/>
        </p:nvSpPr>
        <p:spPr>
          <a:xfrm>
            <a:off x="4018359" y="3807619"/>
            <a:ext cx="3059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Não estou conseguindo acessar a minha conta está horrível.</a:t>
            </a:r>
            <a:endParaRPr lang="en-US" sz="834" dirty="0"/>
          </a:p>
        </p:txBody>
      </p:sp>
      <p:sp>
        <p:nvSpPr>
          <p:cNvPr id="175" name="Shape 32">
            <a:extLst>
              <a:ext uri="{FF2B5EF4-FFF2-40B4-BE49-F238E27FC236}">
                <a16:creationId xmlns:a16="http://schemas.microsoft.com/office/drawing/2014/main" id="{45FB8593-AB58-7CDB-F00D-A10DF468CEBA}"/>
              </a:ext>
            </a:extLst>
          </p:cNvPr>
          <p:cNvSpPr/>
          <p:nvPr/>
        </p:nvSpPr>
        <p:spPr>
          <a:xfrm>
            <a:off x="4018359" y="4034433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6" name="Text 33">
            <a:extLst>
              <a:ext uri="{FF2B5EF4-FFF2-40B4-BE49-F238E27FC236}">
                <a16:creationId xmlns:a16="http://schemas.microsoft.com/office/drawing/2014/main" id="{7CE1FE8C-4B09-9E04-4570-E72E138BE03F}"/>
              </a:ext>
            </a:extLst>
          </p:cNvPr>
          <p:cNvSpPr/>
          <p:nvPr/>
        </p:nvSpPr>
        <p:spPr>
          <a:xfrm>
            <a:off x="4018359" y="4034433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3/5</a:t>
            </a:r>
            <a:endParaRPr lang="en-US" sz="900" dirty="0"/>
          </a:p>
        </p:txBody>
      </p:sp>
      <p:sp>
        <p:nvSpPr>
          <p:cNvPr id="179" name="Shape 34">
            <a:extLst>
              <a:ext uri="{FF2B5EF4-FFF2-40B4-BE49-F238E27FC236}">
                <a16:creationId xmlns:a16="http://schemas.microsoft.com/office/drawing/2014/main" id="{E6DD6BC5-B80D-D0E4-9832-0775D9CCF3BF}"/>
              </a:ext>
            </a:extLst>
          </p:cNvPr>
          <p:cNvSpPr/>
          <p:nvPr/>
        </p:nvSpPr>
        <p:spPr>
          <a:xfrm>
            <a:off x="3839766" y="4378684"/>
            <a:ext cx="4732734" cy="719732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0" name="Image 7" descr="preencoded.png">
            <a:extLst>
              <a:ext uri="{FF2B5EF4-FFF2-40B4-BE49-F238E27FC236}">
                <a16:creationId xmlns:a16="http://schemas.microsoft.com/office/drawing/2014/main" id="{0C76C150-F3CA-4BBA-F14B-5D24EED26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9744" y="4609962"/>
            <a:ext cx="257175" cy="257175"/>
          </a:xfrm>
          <a:prstGeom prst="rect">
            <a:avLst/>
          </a:prstGeom>
        </p:spPr>
      </p:pic>
      <p:sp>
        <p:nvSpPr>
          <p:cNvPr id="181" name="Text 35">
            <a:extLst>
              <a:ext uri="{FF2B5EF4-FFF2-40B4-BE49-F238E27FC236}">
                <a16:creationId xmlns:a16="http://schemas.microsoft.com/office/drawing/2014/main" id="{D86F241B-A138-8AB4-5060-EBABFADF9869}"/>
              </a:ext>
            </a:extLst>
          </p:cNvPr>
          <p:cNvSpPr/>
          <p:nvPr/>
        </p:nvSpPr>
        <p:spPr>
          <a:xfrm>
            <a:off x="4465440" y="4500895"/>
            <a:ext cx="39397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Ação Recomendada</a:t>
            </a:r>
            <a:endParaRPr lang="en-US" sz="987" dirty="0"/>
          </a:p>
        </p:txBody>
      </p:sp>
      <p:sp>
        <p:nvSpPr>
          <p:cNvPr id="182" name="Text 36">
            <a:extLst>
              <a:ext uri="{FF2B5EF4-FFF2-40B4-BE49-F238E27FC236}">
                <a16:creationId xmlns:a16="http://schemas.microsoft.com/office/drawing/2014/main" id="{C6DF0F31-D1DE-9858-496A-0EF3E3E800BE}"/>
              </a:ext>
            </a:extLst>
          </p:cNvPr>
          <p:cNvSpPr/>
          <p:nvPr/>
        </p:nvSpPr>
        <p:spPr>
          <a:xfrm>
            <a:off x="4465440" y="4731281"/>
            <a:ext cx="393977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</a:rPr>
              <a:t>Analisar logs de erro de autenticação (Auth0/Cognito). Revisar UX do fluxo de recuperação de senha e timeouts de sessão.</a:t>
            </a:r>
            <a:endParaRPr lang="en-US" sz="834" dirty="0"/>
          </a:p>
        </p:txBody>
      </p:sp>
    </p:spTree>
    <p:extLst>
      <p:ext uri="{BB962C8B-B14F-4D97-AF65-F5344CB8AC3E}">
        <p14:creationId xmlns:p14="http://schemas.microsoft.com/office/powerpoint/2010/main" val="313196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7304882-B16E-940F-3DE0-5398D387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82FB2201-B5BD-99DD-52AE-E61099C0B3AD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745C4223-7452-27F7-D99E-59EB70BB7E96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B2CD4228-2E89-9B0D-C2B0-D3FFE72F8814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7. Implantação 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CA1B0DF5-8B72-EE20-460C-89C665275A5A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F8A1BF49-264A-9BAF-E761-F1445C80EE5C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9C90553E-5700-1668-50CF-9FB791BA7463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928E71CE-7F8C-769B-6F3B-A35C454ACE63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15FDB061-C59F-8F34-19A5-5ED21DB7A509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61B03D41-057D-A77B-C6F8-B92212C67208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83E12192-65E8-3EE2-C1EC-379C3811DBBD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FAEE1D38-8B75-A88A-06F5-0BEB73423CED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130E9AD0-1064-5036-C8E7-CC29DB88E190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2C37708F-D8C1-3A19-E60A-CCDD48BE2AA7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073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E71AD10-3E7B-E008-EB33-69D39955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141419B-0DA1-1454-979E-7C6D63FF5031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DD469770-02E8-4BF5-55DB-5FC0B462AD37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0F38E890-9BF8-D21C-7949-8A1166AE20A3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 err="1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Roadmap</a:t>
            </a: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 de Evolução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3B28AF8A-7B8B-4FF1-3FEE-3B382E70CA12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E3339A0A-98D3-FFFC-EDE3-0C391223919A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C8F0981E-8B68-B03C-B896-35EE18619BAA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C9E0552B-A82E-C46B-4FD5-8CA15CCB64BD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4A9F1452-1DFA-3085-5BB6-525CE978D102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746E4C89-12B0-27A8-0126-E4C0230BAFE2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BA9A5D00-2717-122C-A4E3-CD3F7FA54FB1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AE5823FB-31FE-720B-1C3B-65516FD8D92B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019E4E38-744A-FEED-FEAF-F30B5D3EF1A3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FF6FA5E9-2D8B-B007-FA43-6E4A82C5F648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14451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D2919F6072284B8C39E73D473FADE3" ma:contentTypeVersion="24" ma:contentTypeDescription="Crie um novo documento." ma:contentTypeScope="" ma:versionID="35eedf4710161232ba9b515a51977887">
  <xsd:schema xmlns:xsd="http://www.w3.org/2001/XMLSchema" xmlns:xs="http://www.w3.org/2001/XMLSchema" xmlns:p="http://schemas.microsoft.com/office/2006/metadata/properties" xmlns:ns1="http://schemas.microsoft.com/sharepoint/v3" xmlns:ns2="4fe2b8fb-9769-49ba-abf8-55ea097e2430" xmlns:ns3="9e67b064-44c3-4f8c-a885-58b2f0079e2a" targetNamespace="http://schemas.microsoft.com/office/2006/metadata/properties" ma:root="true" ma:fieldsID="1caa0c53d1c3c1678d0865515bc20cc3" ns1:_="" ns2:_="" ns3:_="">
    <xsd:import namespace="http://schemas.microsoft.com/sharepoint/v3"/>
    <xsd:import namespace="4fe2b8fb-9769-49ba-abf8-55ea097e2430"/>
    <xsd:import namespace="9e67b064-44c3-4f8c-a885-58b2f0079e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e2b8fb-9769-49ba-abf8-55ea097e2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ea70a5e-26f1-456f-9626-5d88e3c64f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Estado da aprovação" ma:internalName="Estado_x0020_da_x0020_aprova_x00e7__x00e3_o">
      <xsd:simpleType>
        <xsd:restriction base="dms:Text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7b064-44c3-4f8c-a885-58b2f0079e2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2b701a3-a1c9-4601-975a-c5fe0c82f97a}" ma:internalName="TaxCatchAll" ma:showField="CatchAllData" ma:web="9e67b064-44c3-4f8c-a885-58b2f0079e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fe2b8fb-9769-49ba-abf8-55ea097e2430">
      <Terms xmlns="http://schemas.microsoft.com/office/infopath/2007/PartnerControls"/>
    </lcf76f155ced4ddcb4097134ff3c332f>
    <TaxCatchAll xmlns="9e67b064-44c3-4f8c-a885-58b2f0079e2a" xsi:nil="true"/>
    <SharedWithUsers xmlns="9e67b064-44c3-4f8c-a885-58b2f0079e2a">
      <UserInfo>
        <DisplayName/>
        <AccountId xsi:nil="true"/>
        <AccountType/>
      </UserInfo>
    </SharedWithUsers>
    <_Flow_SignoffStatus xmlns="4fe2b8fb-9769-49ba-abf8-55ea097e243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E2C283-8832-4622-BC7E-ADD1F58BC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fe2b8fb-9769-49ba-abf8-55ea097e2430"/>
    <ds:schemaRef ds:uri="9e67b064-44c3-4f8c-a885-58b2f0079e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D79EAE-018E-48D0-8003-88918DD7BBA2}">
  <ds:schemaRefs>
    <ds:schemaRef ds:uri="http://schemas.microsoft.com/sharepoint/v3"/>
    <ds:schemaRef ds:uri="http://schemas.microsoft.com/office/2006/documentManagement/types"/>
    <ds:schemaRef ds:uri="9e67b064-44c3-4f8c-a885-58b2f0079e2a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fe2b8fb-9769-49ba-abf8-55ea097e243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C2FED32-3AE1-4504-A34D-599822105CB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2f8ba2e-e556-4931-b5c8-1c162999bc23}" enabled="1" method="Standard" siteId="{87543db4-df13-4f35-995f-057e7aa9943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636</Words>
  <Application>Microsoft Office PowerPoint</Application>
  <PresentationFormat>Apresentação na tela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Calibri</vt:lpstr>
      <vt:lpstr>Saira</vt:lpstr>
      <vt:lpstr>Aptos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Giovanna Carvalho Carrião</dc:creator>
  <cp:lastModifiedBy>Simone Rossetti Nobre Naxara</cp:lastModifiedBy>
  <cp:revision>5</cp:revision>
  <dcterms:modified xsi:type="dcterms:W3CDTF">2025-12-05T17:59:16Z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0x010100A7D2919F6072284B8C39E73D473FADE3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Simple Light:3</vt:lpwstr>
  </property>
  <property fmtid="{D5CDD505-2E9C-101B-9397-08002B2CF9AE}" pid="5" name="ClassificationContentMarkingFooterText">
    <vt:lpwstr>Conteúdo Interno</vt:lpwstr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