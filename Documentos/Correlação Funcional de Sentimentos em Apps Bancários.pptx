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10" d="100"/>
          <a:sy n="110" d="100"/>
        </p:scale>
        <p:origin x="246" y="-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imone Rossetti Nobre Naxara" userId="67d42903-0d21-4142-a31c-e4f4964febdf" providerId="ADAL" clId="{81C80555-BB0A-45D5-A9A5-3F4AD58D9791}"/>
    <pc:docChg chg="custSel mod modSld modMainMaster">
      <pc:chgData name="Simone Rossetti Nobre Naxara" userId="67d42903-0d21-4142-a31c-e4f4964febdf" providerId="ADAL" clId="{81C80555-BB0A-45D5-A9A5-3F4AD58D9791}" dt="2025-12-02T18:26:37.901" v="4" actId="255"/>
      <pc:docMkLst>
        <pc:docMk/>
      </pc:docMkLst>
      <pc:sldChg chg="delSp modSp mod">
        <pc:chgData name="Simone Rossetti Nobre Naxara" userId="67d42903-0d21-4142-a31c-e4f4964febdf" providerId="ADAL" clId="{81C80555-BB0A-45D5-A9A5-3F4AD58D9791}" dt="2025-12-02T18:26:37.901" v="4" actId="255"/>
        <pc:sldMkLst>
          <pc:docMk/>
          <pc:sldMk cId="0" sldId="261"/>
        </pc:sldMkLst>
        <pc:spChg chg="mod">
          <ac:chgData name="Simone Rossetti Nobre Naxara" userId="67d42903-0d21-4142-a31c-e4f4964febdf" providerId="ADAL" clId="{81C80555-BB0A-45D5-A9A5-3F4AD58D9791}" dt="2025-12-02T18:26:37.901" v="4" actId="255"/>
          <ac:spMkLst>
            <pc:docMk/>
            <pc:sldMk cId="0" sldId="261"/>
            <ac:spMk id="6" creationId="{00000000-0000-0000-0000-000000000000}"/>
          </ac:spMkLst>
        </pc:spChg>
        <pc:spChg chg="mod">
          <ac:chgData name="Simone Rossetti Nobre Naxara" userId="67d42903-0d21-4142-a31c-e4f4964febdf" providerId="ADAL" clId="{81C80555-BB0A-45D5-A9A5-3F4AD58D9791}" dt="2025-12-02T18:26:37.901" v="4" actId="255"/>
          <ac:spMkLst>
            <pc:docMk/>
            <pc:sldMk cId="0" sldId="261"/>
            <ac:spMk id="7" creationId="{00000000-0000-0000-0000-000000000000}"/>
          </ac:spMkLst>
        </pc:spChg>
        <pc:spChg chg="mod">
          <ac:chgData name="Simone Rossetti Nobre Naxara" userId="67d42903-0d21-4142-a31c-e4f4964febdf" providerId="ADAL" clId="{81C80555-BB0A-45D5-A9A5-3F4AD58D9791}" dt="2025-12-02T18:26:37.901" v="4" actId="255"/>
          <ac:spMkLst>
            <pc:docMk/>
            <pc:sldMk cId="0" sldId="261"/>
            <ac:spMk id="12" creationId="{00000000-0000-0000-0000-000000000000}"/>
          </ac:spMkLst>
        </pc:spChg>
        <pc:spChg chg="mod">
          <ac:chgData name="Simone Rossetti Nobre Naxara" userId="67d42903-0d21-4142-a31c-e4f4964febdf" providerId="ADAL" clId="{81C80555-BB0A-45D5-A9A5-3F4AD58D9791}" dt="2025-12-02T18:26:37.901" v="4" actId="255"/>
          <ac:spMkLst>
            <pc:docMk/>
            <pc:sldMk cId="0" sldId="261"/>
            <ac:spMk id="16" creationId="{00000000-0000-0000-0000-000000000000}"/>
          </ac:spMkLst>
        </pc:spChg>
        <pc:spChg chg="mod">
          <ac:chgData name="Simone Rossetti Nobre Naxara" userId="67d42903-0d21-4142-a31c-e4f4964febdf" providerId="ADAL" clId="{81C80555-BB0A-45D5-A9A5-3F4AD58D9791}" dt="2025-12-02T18:26:37.901" v="4" actId="255"/>
          <ac:spMkLst>
            <pc:docMk/>
            <pc:sldMk cId="0" sldId="261"/>
            <ac:spMk id="17" creationId="{00000000-0000-0000-0000-000000000000}"/>
          </ac:spMkLst>
        </pc:spChg>
        <pc:spChg chg="mod">
          <ac:chgData name="Simone Rossetti Nobre Naxara" userId="67d42903-0d21-4142-a31c-e4f4964febdf" providerId="ADAL" clId="{81C80555-BB0A-45D5-A9A5-3F4AD58D9791}" dt="2025-12-02T18:26:37.901" v="4" actId="255"/>
          <ac:spMkLst>
            <pc:docMk/>
            <pc:sldMk cId="0" sldId="261"/>
            <ac:spMk id="20" creationId="{00000000-0000-0000-0000-000000000000}"/>
          </ac:spMkLst>
        </pc:spChg>
        <pc:spChg chg="mod">
          <ac:chgData name="Simone Rossetti Nobre Naxara" userId="67d42903-0d21-4142-a31c-e4f4964febdf" providerId="ADAL" clId="{81C80555-BB0A-45D5-A9A5-3F4AD58D9791}" dt="2025-12-02T18:26:37.901" v="4" actId="255"/>
          <ac:spMkLst>
            <pc:docMk/>
            <pc:sldMk cId="0" sldId="261"/>
            <ac:spMk id="21" creationId="{00000000-0000-0000-0000-000000000000}"/>
          </ac:spMkLst>
        </pc:spChg>
        <pc:spChg chg="mod">
          <ac:chgData name="Simone Rossetti Nobre Naxara" userId="67d42903-0d21-4142-a31c-e4f4964febdf" providerId="ADAL" clId="{81C80555-BB0A-45D5-A9A5-3F4AD58D9791}" dt="2025-12-02T18:26:37.901" v="4" actId="255"/>
          <ac:spMkLst>
            <pc:docMk/>
            <pc:sldMk cId="0" sldId="261"/>
            <ac:spMk id="22" creationId="{00000000-0000-0000-0000-000000000000}"/>
          </ac:spMkLst>
        </pc:spChg>
        <pc:spChg chg="mod">
          <ac:chgData name="Simone Rossetti Nobre Naxara" userId="67d42903-0d21-4142-a31c-e4f4964febdf" providerId="ADAL" clId="{81C80555-BB0A-45D5-A9A5-3F4AD58D9791}" dt="2025-12-02T18:26:37.901" v="4" actId="255"/>
          <ac:spMkLst>
            <pc:docMk/>
            <pc:sldMk cId="0" sldId="261"/>
            <ac:spMk id="28" creationId="{00000000-0000-0000-0000-000000000000}"/>
          </ac:spMkLst>
        </pc:spChg>
        <pc:spChg chg="mod">
          <ac:chgData name="Simone Rossetti Nobre Naxara" userId="67d42903-0d21-4142-a31c-e4f4964febdf" providerId="ADAL" clId="{81C80555-BB0A-45D5-A9A5-3F4AD58D9791}" dt="2025-12-02T18:26:37.901" v="4" actId="255"/>
          <ac:spMkLst>
            <pc:docMk/>
            <pc:sldMk cId="0" sldId="261"/>
            <ac:spMk id="29" creationId="{00000000-0000-0000-0000-000000000000}"/>
          </ac:spMkLst>
        </pc:spChg>
        <pc:picChg chg="del">
          <ac:chgData name="Simone Rossetti Nobre Naxara" userId="67d42903-0d21-4142-a31c-e4f4964febdf" providerId="ADAL" clId="{81C80555-BB0A-45D5-A9A5-3F4AD58D9791}" dt="2025-12-02T18:26:18.331" v="0" actId="478"/>
          <ac:picMkLst>
            <pc:docMk/>
            <pc:sldMk cId="0" sldId="261"/>
            <ac:picMk id="2" creationId="{00000000-0000-0000-0000-000000000000}"/>
          </ac:picMkLst>
        </pc:picChg>
      </pc:sldChg>
      <pc:sldMasterChg chg="addSp mod">
        <pc:chgData name="Simone Rossetti Nobre Naxara" userId="67d42903-0d21-4142-a31c-e4f4964febdf" providerId="ADAL" clId="{81C80555-BB0A-45D5-A9A5-3F4AD58D9791}" dt="2025-12-02T18:26:29.043" v="1" actId="33475"/>
        <pc:sldMasterMkLst>
          <pc:docMk/>
          <pc:sldMasterMk cId="0" sldId="2147483648"/>
        </pc:sldMasterMkLst>
        <pc:spChg chg="add">
          <ac:chgData name="Simone Rossetti Nobre Naxara" userId="67d42903-0d21-4142-a31c-e4f4964febdf" providerId="ADAL" clId="{81C80555-BB0A-45D5-A9A5-3F4AD58D9791}" dt="2025-12-02T18:26:29.043" v="1" actId="33475"/>
          <ac:spMkLst>
            <pc:docMk/>
            <pc:sldMasterMk cId="0" sldId="2147483648"/>
            <ac:spMk id="3" creationId="{4EC505AB-FBF8-31B4-F8D2-67754F31DFF2}"/>
          </ac:spMkLst>
        </pc:sp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563418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4EC505AB-FBF8-31B4-F8D2-67754F31DFF2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4927600"/>
            <a:ext cx="9890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BR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Conteúdo Interno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23770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814388"/>
            <a:ext cx="4000500" cy="21944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4300"/>
              </a:lnSpc>
              <a:buNone/>
            </a:pPr>
            <a:r>
              <a:rPr lang="en-US" sz="3294" b="1" dirty="0">
                <a:solidFill>
                  <a:srgbClr val="1A237E"/>
                </a:solidFill>
              </a:rPr>
              <a:t>Correlação Funcional de Sentimentos em Apps Bancários</a:t>
            </a:r>
            <a:endParaRPr lang="en-US" sz="3294" dirty="0"/>
          </a:p>
        </p:txBody>
      </p:sp>
      <p:sp>
        <p:nvSpPr>
          <p:cNvPr id="4" name="Text 1"/>
          <p:cNvSpPr/>
          <p:nvPr/>
        </p:nvSpPr>
        <p:spPr>
          <a:xfrm>
            <a:off x="571500" y="3366046"/>
            <a:ext cx="4000500" cy="6250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00897B"/>
                </a:solidFill>
              </a:rPr>
              <a:t>API para Priorização de Backlog e Deploy</a:t>
            </a:r>
            <a:endParaRPr lang="en-US" sz="1602" dirty="0"/>
          </a:p>
        </p:txBody>
      </p:sp>
      <p:sp>
        <p:nvSpPr>
          <p:cNvPr id="5" name="Text 2"/>
          <p:cNvSpPr/>
          <p:nvPr/>
        </p:nvSpPr>
        <p:spPr>
          <a:xfrm>
            <a:off x="571500" y="4348311"/>
            <a:ext cx="4000500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37474F"/>
                </a:solidFill>
              </a:rPr>
              <a:t>Uma Abordagem Estruturada com o Modelo CRISP-DM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71500" y="5043041"/>
            <a:ext cx="4000500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897B"/>
                </a:solidFill>
              </a:rPr>
              <a:t>Apresentador: Simone Rossetti Nobre Naxara</a:t>
            </a:r>
            <a:endParaRPr lang="en-US" sz="987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00688" y="1761604"/>
            <a:ext cx="2143125" cy="214312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600075"/>
            <a:ext cx="8572500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A237E"/>
                </a:solidFill>
              </a:rPr>
              <a:t>Entendimento do Negócio</a:t>
            </a:r>
            <a:endParaRPr lang="en-US" sz="1602" dirty="0"/>
          </a:p>
        </p:txBody>
      </p:sp>
      <p:sp>
        <p:nvSpPr>
          <p:cNvPr id="4" name="Text 1"/>
          <p:cNvSpPr/>
          <p:nvPr/>
        </p:nvSpPr>
        <p:spPr>
          <a:xfrm>
            <a:off x="571500" y="984052"/>
            <a:ext cx="8572500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897B"/>
                </a:solidFill>
              </a:rPr>
              <a:t>Business Understanding</a:t>
            </a:r>
            <a:endParaRPr lang="en-US" sz="987" dirty="0"/>
          </a:p>
        </p:txBody>
      </p:sp>
      <p:sp>
        <p:nvSpPr>
          <p:cNvPr id="5" name="Shape 2"/>
          <p:cNvSpPr/>
          <p:nvPr/>
        </p:nvSpPr>
        <p:spPr>
          <a:xfrm>
            <a:off x="571500" y="1535906"/>
            <a:ext cx="428625" cy="428625"/>
          </a:xfrm>
          <a:prstGeom prst="ellipse">
            <a:avLst/>
          </a:prstGeom>
          <a:solidFill>
            <a:srgbClr val="F57C0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3"/>
          <p:cNvSpPr/>
          <p:nvPr/>
        </p:nvSpPr>
        <p:spPr>
          <a:xfrm>
            <a:off x="571500" y="1535906"/>
            <a:ext cx="428625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FFFFFF"/>
                </a:solidFill>
              </a:rPr>
              <a:t>📊</a:t>
            </a:r>
            <a:endParaRPr lang="en-US" sz="1602" dirty="0"/>
          </a:p>
        </p:txBody>
      </p:sp>
      <p:sp>
        <p:nvSpPr>
          <p:cNvPr id="7" name="Text 4"/>
          <p:cNvSpPr/>
          <p:nvPr/>
        </p:nvSpPr>
        <p:spPr>
          <a:xfrm>
            <a:off x="571500" y="2107406"/>
            <a:ext cx="2476481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A237E"/>
                </a:solidFill>
              </a:rPr>
              <a:t>O Problema</a:t>
            </a:r>
            <a:endParaRPr lang="en-US" sz="1193" dirty="0"/>
          </a:p>
        </p:txBody>
      </p:sp>
      <p:sp>
        <p:nvSpPr>
          <p:cNvPr id="8" name="Text 5"/>
          <p:cNvSpPr/>
          <p:nvPr/>
        </p:nvSpPr>
        <p:spPr>
          <a:xfrm>
            <a:off x="571500" y="2484239"/>
            <a:ext cx="2476481" cy="548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37474F"/>
                </a:solidFill>
              </a:rPr>
              <a:t>Alto volume de avaliações negativas impactando a reputação e satisfação do cliente.</a:t>
            </a:r>
            <a:endParaRPr lang="en-US" sz="834" dirty="0"/>
          </a:p>
        </p:txBody>
      </p:sp>
      <p:sp>
        <p:nvSpPr>
          <p:cNvPr id="9" name="Shape 6"/>
          <p:cNvSpPr/>
          <p:nvPr/>
        </p:nvSpPr>
        <p:spPr>
          <a:xfrm>
            <a:off x="571500" y="3247141"/>
            <a:ext cx="2476481" cy="369689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Shape 7"/>
          <p:cNvSpPr/>
          <p:nvPr/>
        </p:nvSpPr>
        <p:spPr>
          <a:xfrm>
            <a:off x="571500" y="3247141"/>
            <a:ext cx="28575" cy="369689"/>
          </a:xfrm>
          <a:prstGeom prst="rect">
            <a:avLst/>
          </a:prstGeom>
          <a:solidFill>
            <a:srgbClr val="00897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8"/>
          <p:cNvSpPr/>
          <p:nvPr/>
        </p:nvSpPr>
        <p:spPr>
          <a:xfrm>
            <a:off x="571500" y="3247141"/>
            <a:ext cx="2476481" cy="369689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0897B"/>
                </a:solidFill>
              </a:rPr>
              <a:t>72.76% das críticas são negativas</a:t>
            </a:r>
            <a:endParaRPr lang="en-US" sz="784" dirty="0"/>
          </a:p>
        </p:txBody>
      </p:sp>
      <p:sp>
        <p:nvSpPr>
          <p:cNvPr id="12" name="Text 9"/>
          <p:cNvSpPr/>
          <p:nvPr/>
        </p:nvSpPr>
        <p:spPr>
          <a:xfrm>
            <a:off x="571500" y="3866862"/>
            <a:ext cx="2476481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27" dirty="0">
                <a:solidFill>
                  <a:srgbClr val="37474F"/>
                </a:solidFill>
              </a:rPr>
              <a:t>Reclamações recorrentes: 'não funciona', 'problema com', 'não abre', 'app trava', 'muito lento'.</a:t>
            </a:r>
            <a:endParaRPr lang="en-US" sz="727" dirty="0"/>
          </a:p>
        </p:txBody>
      </p:sp>
      <p:sp>
        <p:nvSpPr>
          <p:cNvPr id="13" name="Shape 10"/>
          <p:cNvSpPr/>
          <p:nvPr/>
        </p:nvSpPr>
        <p:spPr>
          <a:xfrm>
            <a:off x="3333731" y="1535906"/>
            <a:ext cx="428625" cy="428625"/>
          </a:xfrm>
          <a:prstGeom prst="ellipse">
            <a:avLst/>
          </a:prstGeom>
          <a:solidFill>
            <a:srgbClr val="F57C0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Text 11"/>
          <p:cNvSpPr/>
          <p:nvPr/>
        </p:nvSpPr>
        <p:spPr>
          <a:xfrm>
            <a:off x="3333731" y="1535906"/>
            <a:ext cx="428625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FFFFFF"/>
                </a:solidFill>
              </a:rPr>
              <a:t>🎯</a:t>
            </a:r>
            <a:endParaRPr lang="en-US" sz="1602" dirty="0"/>
          </a:p>
        </p:txBody>
      </p:sp>
      <p:sp>
        <p:nvSpPr>
          <p:cNvPr id="15" name="Text 12"/>
          <p:cNvSpPr/>
          <p:nvPr/>
        </p:nvSpPr>
        <p:spPr>
          <a:xfrm>
            <a:off x="3333731" y="2107406"/>
            <a:ext cx="2476509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A237E"/>
                </a:solidFill>
              </a:rPr>
              <a:t>O Objetivo</a:t>
            </a:r>
            <a:endParaRPr lang="en-US" sz="1193" dirty="0"/>
          </a:p>
        </p:txBody>
      </p:sp>
      <p:sp>
        <p:nvSpPr>
          <p:cNvPr id="16" name="Text 13"/>
          <p:cNvSpPr/>
          <p:nvPr/>
        </p:nvSpPr>
        <p:spPr>
          <a:xfrm>
            <a:off x="3333731" y="2484239"/>
            <a:ext cx="2476509" cy="548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37474F"/>
                </a:solidFill>
              </a:rPr>
              <a:t>Converter o feedback textual não estruturado em um backlog de desenvolvimento priorizado e acionável.</a:t>
            </a:r>
            <a:endParaRPr lang="en-US" sz="834" dirty="0"/>
          </a:p>
        </p:txBody>
      </p:sp>
      <p:sp>
        <p:nvSpPr>
          <p:cNvPr id="17" name="Shape 14"/>
          <p:cNvSpPr/>
          <p:nvPr/>
        </p:nvSpPr>
        <p:spPr>
          <a:xfrm>
            <a:off x="3333731" y="3247141"/>
            <a:ext cx="2476509" cy="369689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Shape 15"/>
          <p:cNvSpPr/>
          <p:nvPr/>
        </p:nvSpPr>
        <p:spPr>
          <a:xfrm>
            <a:off x="3333731" y="3247141"/>
            <a:ext cx="28575" cy="369689"/>
          </a:xfrm>
          <a:prstGeom prst="rect">
            <a:avLst/>
          </a:prstGeom>
          <a:solidFill>
            <a:srgbClr val="00897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Text 16"/>
          <p:cNvSpPr/>
          <p:nvPr/>
        </p:nvSpPr>
        <p:spPr>
          <a:xfrm>
            <a:off x="3333731" y="3247141"/>
            <a:ext cx="2476509" cy="369689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0897B"/>
                </a:solidFill>
              </a:rPr>
              <a:t>Redução do tempo de resposta</a:t>
            </a:r>
            <a:endParaRPr lang="en-US" sz="784" dirty="0"/>
          </a:p>
        </p:txBody>
      </p:sp>
      <p:sp>
        <p:nvSpPr>
          <p:cNvPr id="20" name="Text 17"/>
          <p:cNvSpPr/>
          <p:nvPr/>
        </p:nvSpPr>
        <p:spPr>
          <a:xfrm>
            <a:off x="3333731" y="3866862"/>
            <a:ext cx="2476509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27" dirty="0">
                <a:solidFill>
                  <a:srgbClr val="37474F"/>
                </a:solidFill>
              </a:rPr>
              <a:t>Suporte à decisão de deploy e prevenção de regressões.</a:t>
            </a:r>
            <a:endParaRPr lang="en-US" sz="727" dirty="0"/>
          </a:p>
        </p:txBody>
      </p:sp>
      <p:sp>
        <p:nvSpPr>
          <p:cNvPr id="21" name="Shape 18"/>
          <p:cNvSpPr/>
          <p:nvPr/>
        </p:nvSpPr>
        <p:spPr>
          <a:xfrm>
            <a:off x="6095991" y="1535906"/>
            <a:ext cx="428625" cy="428625"/>
          </a:xfrm>
          <a:prstGeom prst="ellipse">
            <a:avLst/>
          </a:prstGeom>
          <a:solidFill>
            <a:srgbClr val="F57C0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Text 19"/>
          <p:cNvSpPr/>
          <p:nvPr/>
        </p:nvSpPr>
        <p:spPr>
          <a:xfrm>
            <a:off x="6095991" y="1535906"/>
            <a:ext cx="428625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FFFFFF"/>
                </a:solidFill>
              </a:rPr>
              <a:t>✓</a:t>
            </a:r>
            <a:endParaRPr lang="en-US" sz="1602" dirty="0"/>
          </a:p>
        </p:txBody>
      </p:sp>
      <p:sp>
        <p:nvSpPr>
          <p:cNvPr id="23" name="Text 20"/>
          <p:cNvSpPr/>
          <p:nvPr/>
        </p:nvSpPr>
        <p:spPr>
          <a:xfrm>
            <a:off x="6095991" y="2107406"/>
            <a:ext cx="2476481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A237E"/>
                </a:solidFill>
              </a:rPr>
              <a:t>Critérios de Sucesso</a:t>
            </a:r>
            <a:endParaRPr lang="en-US" sz="1193" dirty="0"/>
          </a:p>
        </p:txBody>
      </p:sp>
      <p:sp>
        <p:nvSpPr>
          <p:cNvPr id="24" name="Text 21"/>
          <p:cNvSpPr/>
          <p:nvPr/>
        </p:nvSpPr>
        <p:spPr>
          <a:xfrm>
            <a:off x="6095991" y="2484239"/>
            <a:ext cx="2476481" cy="548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37474F"/>
                </a:solidFill>
              </a:rPr>
              <a:t>Desenvolvimento de uma API funcional com alta acurácia e integração com ferramentas de gestão.</a:t>
            </a:r>
            <a:endParaRPr lang="en-US" sz="834" dirty="0"/>
          </a:p>
        </p:txBody>
      </p:sp>
      <p:sp>
        <p:nvSpPr>
          <p:cNvPr id="25" name="Shape 22"/>
          <p:cNvSpPr/>
          <p:nvPr/>
        </p:nvSpPr>
        <p:spPr>
          <a:xfrm>
            <a:off x="6095991" y="3247141"/>
            <a:ext cx="2476481" cy="369689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6" name="Shape 23"/>
          <p:cNvSpPr/>
          <p:nvPr/>
        </p:nvSpPr>
        <p:spPr>
          <a:xfrm>
            <a:off x="6095991" y="3247141"/>
            <a:ext cx="28575" cy="369689"/>
          </a:xfrm>
          <a:prstGeom prst="rect">
            <a:avLst/>
          </a:prstGeom>
          <a:solidFill>
            <a:srgbClr val="00897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7" name="Text 24"/>
          <p:cNvSpPr/>
          <p:nvPr/>
        </p:nvSpPr>
        <p:spPr>
          <a:xfrm>
            <a:off x="6095991" y="3247141"/>
            <a:ext cx="2476481" cy="369689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0897B"/>
                </a:solidFill>
              </a:rPr>
              <a:t>Acurácia F1-Score &gt; 80%</a:t>
            </a:r>
            <a:endParaRPr lang="en-US" sz="784" dirty="0"/>
          </a:p>
        </p:txBody>
      </p:sp>
      <p:sp>
        <p:nvSpPr>
          <p:cNvPr id="28" name="Text 25"/>
          <p:cNvSpPr/>
          <p:nvPr/>
        </p:nvSpPr>
        <p:spPr>
          <a:xfrm>
            <a:off x="6095991" y="3866862"/>
            <a:ext cx="2476481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27" dirty="0">
                <a:solidFill>
                  <a:srgbClr val="37474F"/>
                </a:solidFill>
              </a:rPr>
              <a:t>Integração com Jira/AzureDevOps para priorização automática de backlog.</a:t>
            </a:r>
            <a:endParaRPr lang="en-US" sz="727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600075"/>
            <a:ext cx="8572500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A237E"/>
                </a:solidFill>
              </a:rPr>
              <a:t>Entendimento dos Dados</a:t>
            </a:r>
            <a:endParaRPr lang="en-US" sz="1602" dirty="0"/>
          </a:p>
        </p:txBody>
      </p:sp>
      <p:sp>
        <p:nvSpPr>
          <p:cNvPr id="4" name="Text 1"/>
          <p:cNvSpPr/>
          <p:nvPr/>
        </p:nvSpPr>
        <p:spPr>
          <a:xfrm>
            <a:off x="571500" y="984052"/>
            <a:ext cx="8572500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897B"/>
                </a:solidFill>
              </a:rPr>
              <a:t>Data Understanding</a:t>
            </a:r>
            <a:endParaRPr lang="en-US" sz="987" dirty="0"/>
          </a:p>
        </p:txBody>
      </p:sp>
      <p:sp>
        <p:nvSpPr>
          <p:cNvPr id="5" name="Text 2"/>
          <p:cNvSpPr/>
          <p:nvPr/>
        </p:nvSpPr>
        <p:spPr>
          <a:xfrm>
            <a:off x="571500" y="1498290"/>
            <a:ext cx="3786188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A237E"/>
                </a:solidFill>
              </a:rPr>
              <a:t>📱 Fonte de Dados</a:t>
            </a:r>
            <a:endParaRPr lang="en-US" sz="987" dirty="0"/>
          </a:p>
        </p:txBody>
      </p:sp>
      <p:sp>
        <p:nvSpPr>
          <p:cNvPr id="6" name="Text 3"/>
          <p:cNvSpPr/>
          <p:nvPr/>
        </p:nvSpPr>
        <p:spPr>
          <a:xfrm>
            <a:off x="571500" y="1764395"/>
            <a:ext cx="3786188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37474F"/>
                </a:solidFill>
              </a:rPr>
              <a:t>Avaliações e comentários de usuários de aplicativos bancários (Bradesco e Santander) nas lojas Play Store e Apple Store.</a:t>
            </a:r>
            <a:endParaRPr lang="en-US" sz="834" dirty="0"/>
          </a:p>
        </p:txBody>
      </p:sp>
      <p:sp>
        <p:nvSpPr>
          <p:cNvPr id="7" name="Text 4"/>
          <p:cNvSpPr/>
          <p:nvPr/>
        </p:nvSpPr>
        <p:spPr>
          <a:xfrm>
            <a:off x="571500" y="2344434"/>
            <a:ext cx="3786188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A237E"/>
                </a:solidFill>
              </a:rPr>
              <a:t>📊 Natureza dos Dados</a:t>
            </a:r>
            <a:endParaRPr lang="en-US" sz="987" dirty="0"/>
          </a:p>
        </p:txBody>
      </p:sp>
      <p:sp>
        <p:nvSpPr>
          <p:cNvPr id="8" name="Text 5"/>
          <p:cNvSpPr/>
          <p:nvPr/>
        </p:nvSpPr>
        <p:spPr>
          <a:xfrm>
            <a:off x="571500" y="2610538"/>
            <a:ext cx="3786188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37474F"/>
                </a:solidFill>
              </a:rPr>
              <a:t>Dados textuais não estruturados (Big Data textual) com volume massivo de comentários e avaliações.</a:t>
            </a:r>
            <a:endParaRPr lang="en-US" sz="834" dirty="0"/>
          </a:p>
        </p:txBody>
      </p:sp>
      <p:sp>
        <p:nvSpPr>
          <p:cNvPr id="9" name="Text 6"/>
          <p:cNvSpPr/>
          <p:nvPr/>
        </p:nvSpPr>
        <p:spPr>
          <a:xfrm>
            <a:off x="571500" y="3190577"/>
            <a:ext cx="3786188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A237E"/>
                </a:solidFill>
              </a:rPr>
              <a:t>🔍 Análise Inicial</a:t>
            </a:r>
            <a:endParaRPr lang="en-US" sz="987" dirty="0"/>
          </a:p>
        </p:txBody>
      </p:sp>
      <p:sp>
        <p:nvSpPr>
          <p:cNvPr id="10" name="Text 7"/>
          <p:cNvSpPr/>
          <p:nvPr/>
        </p:nvSpPr>
        <p:spPr>
          <a:xfrm>
            <a:off x="571500" y="3456682"/>
            <a:ext cx="3786188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37474F"/>
                </a:solidFill>
              </a:rPr>
              <a:t>Reclamações recorrentes: 'não funciona', 'problema com', 'não abre', 'app trava', 'muito lento'.</a:t>
            </a:r>
            <a:endParaRPr lang="en-US" sz="834" dirty="0"/>
          </a:p>
        </p:txBody>
      </p:sp>
      <p:sp>
        <p:nvSpPr>
          <p:cNvPr id="11" name="Shape 8"/>
          <p:cNvSpPr/>
          <p:nvPr/>
        </p:nvSpPr>
        <p:spPr>
          <a:xfrm>
            <a:off x="571500" y="3893846"/>
            <a:ext cx="3786188" cy="369689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Shape 9"/>
          <p:cNvSpPr/>
          <p:nvPr/>
        </p:nvSpPr>
        <p:spPr>
          <a:xfrm>
            <a:off x="571500" y="3893846"/>
            <a:ext cx="28575" cy="369689"/>
          </a:xfrm>
          <a:prstGeom prst="rect">
            <a:avLst/>
          </a:prstGeom>
          <a:solidFill>
            <a:srgbClr val="F57C0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0"/>
          <p:cNvSpPr/>
          <p:nvPr/>
        </p:nvSpPr>
        <p:spPr>
          <a:xfrm>
            <a:off x="571500" y="3893846"/>
            <a:ext cx="3786188" cy="369689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57C00"/>
                </a:solidFill>
              </a:rPr>
              <a:t>72.76% das críticas são Negativas</a:t>
            </a:r>
            <a:endParaRPr lang="en-US" sz="784" dirty="0"/>
          </a:p>
        </p:txBody>
      </p:sp>
      <p:sp>
        <p:nvSpPr>
          <p:cNvPr id="14" name="Text 11"/>
          <p:cNvSpPr/>
          <p:nvPr/>
        </p:nvSpPr>
        <p:spPr>
          <a:xfrm>
            <a:off x="571500" y="4477848"/>
            <a:ext cx="3786188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A237E"/>
                </a:solidFill>
              </a:rPr>
              <a:t>⚠️ Desafio Principal</a:t>
            </a:r>
            <a:endParaRPr lang="en-US" sz="987" dirty="0"/>
          </a:p>
        </p:txBody>
      </p:sp>
      <p:sp>
        <p:nvSpPr>
          <p:cNvPr id="15" name="Text 12"/>
          <p:cNvSpPr/>
          <p:nvPr/>
        </p:nvSpPr>
        <p:spPr>
          <a:xfrm>
            <a:off x="571500" y="4743952"/>
            <a:ext cx="3786188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37474F"/>
                </a:solidFill>
              </a:rPr>
              <a:t>Correlacionar o sentimento com funcionalidades específicas (PIX, Login, Pagamentos) para ação estratégica.</a:t>
            </a:r>
            <a:endParaRPr lang="en-US" sz="834" dirty="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6313" y="1875234"/>
            <a:ext cx="3786188" cy="2857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600075"/>
            <a:ext cx="8572500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A237E"/>
                </a:solidFill>
              </a:rPr>
              <a:t>Preparação dos Dados</a:t>
            </a:r>
            <a:endParaRPr lang="en-US" sz="1602" dirty="0"/>
          </a:p>
        </p:txBody>
      </p:sp>
      <p:sp>
        <p:nvSpPr>
          <p:cNvPr id="4" name="Text 1"/>
          <p:cNvSpPr/>
          <p:nvPr/>
        </p:nvSpPr>
        <p:spPr>
          <a:xfrm>
            <a:off x="571500" y="984052"/>
            <a:ext cx="8572500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897B"/>
                </a:solidFill>
              </a:rPr>
              <a:t>Data Preparation</a:t>
            </a:r>
            <a:endParaRPr lang="en-US" sz="987" dirty="0"/>
          </a:p>
        </p:txBody>
      </p:sp>
      <p:sp>
        <p:nvSpPr>
          <p:cNvPr id="5" name="Text 2"/>
          <p:cNvSpPr/>
          <p:nvPr/>
        </p:nvSpPr>
        <p:spPr>
          <a:xfrm>
            <a:off x="571500" y="1464469"/>
            <a:ext cx="8001000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A237E"/>
                </a:solidFill>
              </a:rPr>
              <a:t>Etapas de Pré-processamento</a:t>
            </a:r>
            <a:endParaRPr lang="en-US" sz="987" dirty="0"/>
          </a:p>
        </p:txBody>
      </p:sp>
      <p:sp>
        <p:nvSpPr>
          <p:cNvPr id="6" name="Shape 3"/>
          <p:cNvSpPr/>
          <p:nvPr/>
        </p:nvSpPr>
        <p:spPr>
          <a:xfrm>
            <a:off x="571500" y="1802011"/>
            <a:ext cx="1635919" cy="775097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Shape 4"/>
          <p:cNvSpPr/>
          <p:nvPr/>
        </p:nvSpPr>
        <p:spPr>
          <a:xfrm>
            <a:off x="571500" y="1802011"/>
            <a:ext cx="1635919" cy="28575"/>
          </a:xfrm>
          <a:prstGeom prst="rect">
            <a:avLst/>
          </a:prstGeom>
          <a:solidFill>
            <a:srgbClr val="00897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714375" y="1959173"/>
            <a:ext cx="1350169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A237E"/>
                </a:solidFill>
              </a:rPr>
              <a:t>1</a:t>
            </a:r>
            <a:endParaRPr lang="en-US" sz="1193" dirty="0"/>
          </a:p>
        </p:txBody>
      </p:sp>
      <p:sp>
        <p:nvSpPr>
          <p:cNvPr id="9" name="Text 6"/>
          <p:cNvSpPr/>
          <p:nvPr/>
        </p:nvSpPr>
        <p:spPr>
          <a:xfrm>
            <a:off x="714375" y="2264569"/>
            <a:ext cx="1350169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A237E"/>
                </a:solidFill>
              </a:rPr>
              <a:t>Limpeza</a:t>
            </a:r>
            <a:endParaRPr lang="en-US" sz="784" dirty="0"/>
          </a:p>
        </p:txBody>
      </p:sp>
      <p:sp>
        <p:nvSpPr>
          <p:cNvPr id="10" name="Text 7"/>
          <p:cNvSpPr/>
          <p:nvPr/>
        </p:nvSpPr>
        <p:spPr>
          <a:xfrm>
            <a:off x="2350294" y="2044898"/>
            <a:ext cx="200025" cy="2893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00897B"/>
                </a:solidFill>
              </a:rPr>
              <a:t>→</a:t>
            </a:r>
            <a:endParaRPr lang="en-US" sz="1397" dirty="0"/>
          </a:p>
        </p:txBody>
      </p:sp>
      <p:sp>
        <p:nvSpPr>
          <p:cNvPr id="11" name="Shape 8"/>
          <p:cNvSpPr/>
          <p:nvPr/>
        </p:nvSpPr>
        <p:spPr>
          <a:xfrm>
            <a:off x="2693194" y="1802011"/>
            <a:ext cx="1635919" cy="775097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Shape 9"/>
          <p:cNvSpPr/>
          <p:nvPr/>
        </p:nvSpPr>
        <p:spPr>
          <a:xfrm>
            <a:off x="2693194" y="1802011"/>
            <a:ext cx="1635919" cy="28575"/>
          </a:xfrm>
          <a:prstGeom prst="rect">
            <a:avLst/>
          </a:prstGeom>
          <a:solidFill>
            <a:srgbClr val="00897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0"/>
          <p:cNvSpPr/>
          <p:nvPr/>
        </p:nvSpPr>
        <p:spPr>
          <a:xfrm>
            <a:off x="2836069" y="1959173"/>
            <a:ext cx="1350169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A237E"/>
                </a:solidFill>
              </a:rPr>
              <a:t>2</a:t>
            </a:r>
            <a:endParaRPr lang="en-US" sz="1193" dirty="0"/>
          </a:p>
        </p:txBody>
      </p:sp>
      <p:sp>
        <p:nvSpPr>
          <p:cNvPr id="14" name="Text 11"/>
          <p:cNvSpPr/>
          <p:nvPr/>
        </p:nvSpPr>
        <p:spPr>
          <a:xfrm>
            <a:off x="2836069" y="2264569"/>
            <a:ext cx="1350169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A237E"/>
                </a:solidFill>
              </a:rPr>
              <a:t>Normalização</a:t>
            </a:r>
            <a:endParaRPr lang="en-US" sz="784" dirty="0"/>
          </a:p>
        </p:txBody>
      </p:sp>
      <p:sp>
        <p:nvSpPr>
          <p:cNvPr id="15" name="Text 12"/>
          <p:cNvSpPr/>
          <p:nvPr/>
        </p:nvSpPr>
        <p:spPr>
          <a:xfrm>
            <a:off x="4471988" y="2044898"/>
            <a:ext cx="200025" cy="2893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00897B"/>
                </a:solidFill>
              </a:rPr>
              <a:t>→</a:t>
            </a:r>
            <a:endParaRPr lang="en-US" sz="1397" dirty="0"/>
          </a:p>
        </p:txBody>
      </p:sp>
      <p:sp>
        <p:nvSpPr>
          <p:cNvPr id="16" name="Shape 13"/>
          <p:cNvSpPr/>
          <p:nvPr/>
        </p:nvSpPr>
        <p:spPr>
          <a:xfrm>
            <a:off x="4814888" y="1802011"/>
            <a:ext cx="1635919" cy="775097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Shape 14"/>
          <p:cNvSpPr/>
          <p:nvPr/>
        </p:nvSpPr>
        <p:spPr>
          <a:xfrm>
            <a:off x="4814888" y="1802011"/>
            <a:ext cx="1635919" cy="28575"/>
          </a:xfrm>
          <a:prstGeom prst="rect">
            <a:avLst/>
          </a:prstGeom>
          <a:solidFill>
            <a:srgbClr val="00897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Text 15"/>
          <p:cNvSpPr/>
          <p:nvPr/>
        </p:nvSpPr>
        <p:spPr>
          <a:xfrm>
            <a:off x="4957763" y="1959173"/>
            <a:ext cx="1350169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A237E"/>
                </a:solidFill>
              </a:rPr>
              <a:t>3</a:t>
            </a:r>
            <a:endParaRPr lang="en-US" sz="1193" dirty="0"/>
          </a:p>
        </p:txBody>
      </p:sp>
      <p:sp>
        <p:nvSpPr>
          <p:cNvPr id="19" name="Text 16"/>
          <p:cNvSpPr/>
          <p:nvPr/>
        </p:nvSpPr>
        <p:spPr>
          <a:xfrm>
            <a:off x="4957763" y="2264569"/>
            <a:ext cx="1350169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A237E"/>
                </a:solidFill>
              </a:rPr>
              <a:t>Tokenização</a:t>
            </a:r>
            <a:endParaRPr lang="en-US" sz="784" dirty="0"/>
          </a:p>
        </p:txBody>
      </p:sp>
      <p:sp>
        <p:nvSpPr>
          <p:cNvPr id="20" name="Text 17"/>
          <p:cNvSpPr/>
          <p:nvPr/>
        </p:nvSpPr>
        <p:spPr>
          <a:xfrm>
            <a:off x="6593681" y="2044898"/>
            <a:ext cx="200025" cy="2893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00897B"/>
                </a:solidFill>
              </a:rPr>
              <a:t>→</a:t>
            </a:r>
            <a:endParaRPr lang="en-US" sz="1397" dirty="0"/>
          </a:p>
        </p:txBody>
      </p:sp>
      <p:sp>
        <p:nvSpPr>
          <p:cNvPr id="21" name="Shape 18"/>
          <p:cNvSpPr/>
          <p:nvPr/>
        </p:nvSpPr>
        <p:spPr>
          <a:xfrm>
            <a:off x="6936581" y="1802011"/>
            <a:ext cx="1635919" cy="775097"/>
          </a:xfrm>
          <a:prstGeom prst="rect">
            <a:avLst/>
          </a:prstGeom>
          <a:solidFill>
            <a:srgbClr val="FFF3E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Shape 19"/>
          <p:cNvSpPr/>
          <p:nvPr/>
        </p:nvSpPr>
        <p:spPr>
          <a:xfrm>
            <a:off x="6936581" y="1802011"/>
            <a:ext cx="1635919" cy="28575"/>
          </a:xfrm>
          <a:prstGeom prst="rect">
            <a:avLst/>
          </a:prstGeom>
          <a:solidFill>
            <a:srgbClr val="F57C0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3" name="Text 20"/>
          <p:cNvSpPr/>
          <p:nvPr/>
        </p:nvSpPr>
        <p:spPr>
          <a:xfrm>
            <a:off x="7079456" y="1944886"/>
            <a:ext cx="1350169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A237E"/>
                </a:solidFill>
              </a:rPr>
              <a:t>4</a:t>
            </a:r>
            <a:endParaRPr lang="en-US" sz="1193" dirty="0"/>
          </a:p>
        </p:txBody>
      </p:sp>
      <p:sp>
        <p:nvSpPr>
          <p:cNvPr id="24" name="Text 21"/>
          <p:cNvSpPr/>
          <p:nvPr/>
        </p:nvSpPr>
        <p:spPr>
          <a:xfrm>
            <a:off x="7079456" y="2250281"/>
            <a:ext cx="1350169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A237E"/>
                </a:solidFill>
              </a:rPr>
              <a:t>Lematização</a:t>
            </a:r>
            <a:endParaRPr lang="en-US" sz="784" dirty="0"/>
          </a:p>
        </p:txBody>
      </p:sp>
      <p:sp>
        <p:nvSpPr>
          <p:cNvPr id="25" name="Text 22"/>
          <p:cNvSpPr/>
          <p:nvPr/>
        </p:nvSpPr>
        <p:spPr>
          <a:xfrm>
            <a:off x="571500" y="2655689"/>
            <a:ext cx="8001000" cy="2803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37474F"/>
                </a:solidFill>
              </a:rPr>
              <a:t>Detalhes:</a:t>
            </a:r>
            <a:r>
              <a:rPr lang="en-US" sz="727" dirty="0">
                <a:solidFill>
                  <a:srgbClr val="37474F"/>
                </a:solidFill>
              </a:rPr>
              <a:t> Remoção de caracteres especiais, emojis e stop words → Conversão para minúsculas e padronização → Divisão em tokens → Redução a forma canônica das palavras</a:t>
            </a:r>
            <a:endParaRPr lang="en-US" sz="683" dirty="0"/>
          </a:p>
        </p:txBody>
      </p:sp>
      <p:sp>
        <p:nvSpPr>
          <p:cNvPr id="26" name="Text 23"/>
          <p:cNvSpPr/>
          <p:nvPr/>
        </p:nvSpPr>
        <p:spPr>
          <a:xfrm>
            <a:off x="571500" y="3221831"/>
            <a:ext cx="3857625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A237E"/>
                </a:solidFill>
              </a:rPr>
              <a:t>Feature Engineering</a:t>
            </a:r>
            <a:endParaRPr lang="en-US" sz="987" dirty="0"/>
          </a:p>
        </p:txBody>
      </p:sp>
      <p:sp>
        <p:nvSpPr>
          <p:cNvPr id="27" name="Text 24"/>
          <p:cNvSpPr/>
          <p:nvPr/>
        </p:nvSpPr>
        <p:spPr>
          <a:xfrm>
            <a:off x="571500" y="3595092"/>
            <a:ext cx="385762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37474F"/>
                </a:solidFill>
              </a:rPr>
              <a:t>Conversão de texto em vetores numéricos para processamento por algoritmos:</a:t>
            </a:r>
            <a:endParaRPr lang="en-US" sz="727" dirty="0"/>
          </a:p>
        </p:txBody>
      </p:sp>
      <p:sp>
        <p:nvSpPr>
          <p:cNvPr id="28" name="Shape 25"/>
          <p:cNvSpPr/>
          <p:nvPr/>
        </p:nvSpPr>
        <p:spPr>
          <a:xfrm>
            <a:off x="571500" y="3909417"/>
            <a:ext cx="3857625" cy="442913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9" name="Shape 26"/>
          <p:cNvSpPr/>
          <p:nvPr/>
        </p:nvSpPr>
        <p:spPr>
          <a:xfrm>
            <a:off x="571500" y="3909417"/>
            <a:ext cx="28575" cy="442913"/>
          </a:xfrm>
          <a:prstGeom prst="rect">
            <a:avLst/>
          </a:prstGeom>
          <a:solidFill>
            <a:srgbClr val="00897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0" name="Text 27"/>
          <p:cNvSpPr/>
          <p:nvPr/>
        </p:nvSpPr>
        <p:spPr>
          <a:xfrm>
            <a:off x="571500" y="3909417"/>
            <a:ext cx="3857625" cy="442913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37474F"/>
                </a:solidFill>
              </a:rPr>
              <a:t>TF-IDF
</a:t>
            </a:r>
            <a:r>
              <a:rPr lang="en-US" sz="621" dirty="0">
                <a:solidFill>
                  <a:srgbClr val="37474F"/>
                </a:solidFill>
              </a:rPr>
              <a:t>Term Frequency-Inverse Document Frequency para identificar palavras-chave relevantes</a:t>
            </a:r>
            <a:endParaRPr lang="en-US" sz="683" dirty="0"/>
          </a:p>
        </p:txBody>
      </p:sp>
      <p:sp>
        <p:nvSpPr>
          <p:cNvPr id="31" name="Shape 28"/>
          <p:cNvSpPr/>
          <p:nvPr/>
        </p:nvSpPr>
        <p:spPr>
          <a:xfrm>
            <a:off x="571500" y="4459486"/>
            <a:ext cx="3857625" cy="442913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2" name="Shape 29"/>
          <p:cNvSpPr/>
          <p:nvPr/>
        </p:nvSpPr>
        <p:spPr>
          <a:xfrm>
            <a:off x="571500" y="4459486"/>
            <a:ext cx="28575" cy="442913"/>
          </a:xfrm>
          <a:prstGeom prst="rect">
            <a:avLst/>
          </a:prstGeom>
          <a:solidFill>
            <a:srgbClr val="00897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3" name="Text 30"/>
          <p:cNvSpPr/>
          <p:nvPr/>
        </p:nvSpPr>
        <p:spPr>
          <a:xfrm>
            <a:off x="571500" y="4459486"/>
            <a:ext cx="3857625" cy="442913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37474F"/>
                </a:solidFill>
              </a:rPr>
              <a:t>Word Embeddings
</a:t>
            </a:r>
            <a:r>
              <a:rPr lang="en-US" sz="621" dirty="0">
                <a:solidFill>
                  <a:srgbClr val="37474F"/>
                </a:solidFill>
              </a:rPr>
              <a:t>Representação densa de palavras capturando semântica e contexto</a:t>
            </a:r>
            <a:endParaRPr lang="en-US" sz="683" dirty="0"/>
          </a:p>
        </p:txBody>
      </p:sp>
      <p:sp>
        <p:nvSpPr>
          <p:cNvPr id="34" name="Text 31"/>
          <p:cNvSpPr/>
          <p:nvPr/>
        </p:nvSpPr>
        <p:spPr>
          <a:xfrm>
            <a:off x="4714875" y="3221831"/>
            <a:ext cx="3857625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A237E"/>
                </a:solidFill>
              </a:rPr>
              <a:t>Estrutura do Dataset</a:t>
            </a:r>
            <a:endParaRPr lang="en-US" sz="987" dirty="0"/>
          </a:p>
        </p:txBody>
      </p:sp>
      <p:sp>
        <p:nvSpPr>
          <p:cNvPr id="35" name="Shape 32"/>
          <p:cNvSpPr/>
          <p:nvPr/>
        </p:nvSpPr>
        <p:spPr>
          <a:xfrm>
            <a:off x="4714875" y="3595092"/>
            <a:ext cx="3857625" cy="374321"/>
          </a:xfrm>
          <a:prstGeom prst="rect">
            <a:avLst/>
          </a:prstGeom>
          <a:solidFill>
            <a:srgbClr val="FFF3E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6" name="Shape 33"/>
          <p:cNvSpPr/>
          <p:nvPr/>
        </p:nvSpPr>
        <p:spPr>
          <a:xfrm>
            <a:off x="4714875" y="3595092"/>
            <a:ext cx="28575" cy="374321"/>
          </a:xfrm>
          <a:prstGeom prst="rect">
            <a:avLst/>
          </a:prstGeom>
          <a:solidFill>
            <a:srgbClr val="F57C0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7" name="Text 34"/>
          <p:cNvSpPr/>
          <p:nvPr/>
        </p:nvSpPr>
        <p:spPr>
          <a:xfrm>
            <a:off x="4714875" y="3595092"/>
            <a:ext cx="3857625" cy="374321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37474F"/>
                </a:solidFill>
              </a:rPr>
              <a:t>Volume:</a:t>
            </a:r>
            <a:r>
              <a:rPr lang="en-US" sz="727" dirty="0">
                <a:solidFill>
                  <a:srgbClr val="37474F"/>
                </a:solidFill>
              </a:rPr>
              <a:t> Meta de mais de 10.000 comentários para treinamento e validação</a:t>
            </a:r>
            <a:endParaRPr lang="en-US" sz="683" dirty="0"/>
          </a:p>
        </p:txBody>
      </p:sp>
      <p:sp>
        <p:nvSpPr>
          <p:cNvPr id="38" name="Shape 35"/>
          <p:cNvSpPr/>
          <p:nvPr/>
        </p:nvSpPr>
        <p:spPr>
          <a:xfrm>
            <a:off x="4714875" y="4076570"/>
            <a:ext cx="3857625" cy="534330"/>
          </a:xfrm>
          <a:prstGeom prst="rect">
            <a:avLst/>
          </a:prstGeom>
          <a:solidFill>
            <a:srgbClr val="FFF3E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9" name="Shape 36"/>
          <p:cNvSpPr/>
          <p:nvPr/>
        </p:nvSpPr>
        <p:spPr>
          <a:xfrm>
            <a:off x="4714875" y="4076570"/>
            <a:ext cx="28575" cy="534330"/>
          </a:xfrm>
          <a:prstGeom prst="rect">
            <a:avLst/>
          </a:prstGeom>
          <a:solidFill>
            <a:srgbClr val="F57C0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0" name="Text 37"/>
          <p:cNvSpPr/>
          <p:nvPr/>
        </p:nvSpPr>
        <p:spPr>
          <a:xfrm>
            <a:off x="4714875" y="4076570"/>
            <a:ext cx="3857625" cy="534330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37474F"/>
                </a:solidFill>
              </a:rPr>
              <a:t>Rotulagem:</a:t>
            </a:r>
            <a:r>
              <a:rPr lang="en-US" sz="727" dirty="0">
                <a:solidFill>
                  <a:srgbClr val="37474F"/>
                </a:solidFill>
              </a:rPr>
              <a:t> Criação de rótulos de negócio (funcionalidades: PIX, Login, Pagamentos, etc.) para comentários negativos</a:t>
            </a:r>
            <a:endParaRPr lang="en-US" sz="683" dirty="0"/>
          </a:p>
        </p:txBody>
      </p:sp>
      <p:sp>
        <p:nvSpPr>
          <p:cNvPr id="41" name="Shape 38"/>
          <p:cNvSpPr/>
          <p:nvPr/>
        </p:nvSpPr>
        <p:spPr>
          <a:xfrm>
            <a:off x="4714875" y="4718056"/>
            <a:ext cx="3857625" cy="374321"/>
          </a:xfrm>
          <a:prstGeom prst="rect">
            <a:avLst/>
          </a:prstGeom>
          <a:solidFill>
            <a:srgbClr val="FFF3E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2" name="Shape 39"/>
          <p:cNvSpPr/>
          <p:nvPr/>
        </p:nvSpPr>
        <p:spPr>
          <a:xfrm>
            <a:off x="4714875" y="4718056"/>
            <a:ext cx="28575" cy="374321"/>
          </a:xfrm>
          <a:prstGeom prst="rect">
            <a:avLst/>
          </a:prstGeom>
          <a:solidFill>
            <a:srgbClr val="F57C0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3" name="Text 40"/>
          <p:cNvSpPr/>
          <p:nvPr/>
        </p:nvSpPr>
        <p:spPr>
          <a:xfrm>
            <a:off x="4714875" y="4718056"/>
            <a:ext cx="3857625" cy="374321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37474F"/>
                </a:solidFill>
              </a:rPr>
              <a:t>Objetivo:</a:t>
            </a:r>
            <a:r>
              <a:rPr lang="en-US" sz="727" dirty="0">
                <a:solidFill>
                  <a:srgbClr val="37474F"/>
                </a:solidFill>
              </a:rPr>
              <a:t> Permitir o treinamento do modelo de correlação funcional</a:t>
            </a:r>
            <a:endParaRPr lang="en-US" sz="683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33280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600075"/>
            <a:ext cx="8572500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A237E"/>
                </a:solidFill>
              </a:rPr>
              <a:t>Modelagem</a:t>
            </a:r>
            <a:endParaRPr lang="en-US" sz="1602" dirty="0"/>
          </a:p>
        </p:txBody>
      </p:sp>
      <p:sp>
        <p:nvSpPr>
          <p:cNvPr id="4" name="Text 1"/>
          <p:cNvSpPr/>
          <p:nvPr/>
        </p:nvSpPr>
        <p:spPr>
          <a:xfrm>
            <a:off x="571500" y="984052"/>
            <a:ext cx="8572500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897B"/>
                </a:solidFill>
              </a:rPr>
              <a:t>Modeling</a:t>
            </a:r>
            <a:endParaRPr lang="en-US" sz="987" dirty="0"/>
          </a:p>
        </p:txBody>
      </p:sp>
      <p:sp>
        <p:nvSpPr>
          <p:cNvPr id="5" name="Text 2"/>
          <p:cNvSpPr/>
          <p:nvPr/>
        </p:nvSpPr>
        <p:spPr>
          <a:xfrm>
            <a:off x="571500" y="1464469"/>
            <a:ext cx="3786188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A237E"/>
                </a:solidFill>
              </a:rPr>
              <a:t>🧠 Abordagem Metodológica</a:t>
            </a:r>
            <a:endParaRPr lang="en-US" sz="987" dirty="0"/>
          </a:p>
        </p:txBody>
      </p:sp>
      <p:sp>
        <p:nvSpPr>
          <p:cNvPr id="6" name="Text 3"/>
          <p:cNvSpPr/>
          <p:nvPr/>
        </p:nvSpPr>
        <p:spPr>
          <a:xfrm>
            <a:off x="571500" y="1730573"/>
            <a:ext cx="3786188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37474F"/>
                </a:solidFill>
              </a:rPr>
              <a:t>Classificação e Extração de Features via **Large Language Model (LLM)**.</a:t>
            </a:r>
            <a:endParaRPr lang="en-US" sz="834" dirty="0"/>
          </a:p>
        </p:txBody>
      </p:sp>
      <p:sp>
        <p:nvSpPr>
          <p:cNvPr id="7" name="Text 4"/>
          <p:cNvSpPr/>
          <p:nvPr/>
        </p:nvSpPr>
        <p:spPr>
          <a:xfrm>
            <a:off x="571500" y="2167737"/>
            <a:ext cx="3786188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37474F"/>
                </a:solidFill>
              </a:rPr>
              <a:t>Utilização de **Prompt Engineering** para mapear o sentimento para funcionalidades específicas (zero-shot learning).</a:t>
            </a:r>
            <a:endParaRPr lang="en-US" sz="834" dirty="0"/>
          </a:p>
        </p:txBody>
      </p:sp>
      <p:sp>
        <p:nvSpPr>
          <p:cNvPr id="8" name="Text 5"/>
          <p:cNvSpPr/>
          <p:nvPr/>
        </p:nvSpPr>
        <p:spPr>
          <a:xfrm>
            <a:off x="571500" y="2747776"/>
            <a:ext cx="3786188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A237E"/>
                </a:solidFill>
              </a:rPr>
              <a:t>⚙️ Algoritmo Escolhido</a:t>
            </a:r>
            <a:endParaRPr lang="en-US" sz="987" dirty="0"/>
          </a:p>
        </p:txBody>
      </p:sp>
      <p:sp>
        <p:nvSpPr>
          <p:cNvPr id="9" name="Text 6"/>
          <p:cNvSpPr/>
          <p:nvPr/>
        </p:nvSpPr>
        <p:spPr>
          <a:xfrm>
            <a:off x="571500" y="3013881"/>
            <a:ext cx="3786188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37474F"/>
                </a:solidFill>
              </a:rPr>
              <a:t>**LLM (ex: GPT-4, Gemini, Llama)**</a:t>
            </a:r>
            <a:endParaRPr lang="en-US" sz="834" dirty="0"/>
          </a:p>
        </p:txBody>
      </p:sp>
      <p:sp>
        <p:nvSpPr>
          <p:cNvPr id="10" name="Shape 7"/>
          <p:cNvSpPr/>
          <p:nvPr/>
        </p:nvSpPr>
        <p:spPr>
          <a:xfrm>
            <a:off x="571500" y="3268182"/>
            <a:ext cx="3786188" cy="369689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Shape 8"/>
          <p:cNvSpPr/>
          <p:nvPr/>
        </p:nvSpPr>
        <p:spPr>
          <a:xfrm>
            <a:off x="571500" y="3268182"/>
            <a:ext cx="28575" cy="369689"/>
          </a:xfrm>
          <a:prstGeom prst="rect">
            <a:avLst/>
          </a:prstGeom>
          <a:solidFill>
            <a:srgbClr val="00897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9"/>
          <p:cNvSpPr/>
          <p:nvPr/>
        </p:nvSpPr>
        <p:spPr>
          <a:xfrm>
            <a:off x="571500" y="3268182"/>
            <a:ext cx="3786188" cy="369689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0897B"/>
                </a:solidFill>
              </a:rPr>
              <a:t>Flexibilidade e Extração de Features Complexas</a:t>
            </a:r>
            <a:endParaRPr lang="en-US" sz="784" dirty="0"/>
          </a:p>
        </p:txBody>
      </p:sp>
      <p:sp>
        <p:nvSpPr>
          <p:cNvPr id="13" name="Text 10"/>
          <p:cNvSpPr/>
          <p:nvPr/>
        </p:nvSpPr>
        <p:spPr>
          <a:xfrm>
            <a:off x="571500" y="3709308"/>
            <a:ext cx="3786188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27" dirty="0">
                <a:solidFill>
                  <a:srgbClr val="37474F"/>
                </a:solidFill>
              </a:rPr>
              <a:t>Justificativa: Capacidade de **zero-shot learning** para categorizar funcionalidades sem treinamento prévio e extrair o **sentimento implícito**.</a:t>
            </a:r>
            <a:endParaRPr lang="en-US" sz="727" dirty="0"/>
          </a:p>
        </p:txBody>
      </p:sp>
      <p:sp>
        <p:nvSpPr>
          <p:cNvPr id="14" name="Text 11"/>
          <p:cNvSpPr/>
          <p:nvPr/>
        </p:nvSpPr>
        <p:spPr>
          <a:xfrm>
            <a:off x="571500" y="4243639"/>
            <a:ext cx="3786188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A237E"/>
                </a:solidFill>
              </a:rPr>
              <a:t>✓ Justificativa</a:t>
            </a:r>
            <a:endParaRPr lang="en-US" sz="987" dirty="0"/>
          </a:p>
        </p:txBody>
      </p:sp>
      <p:sp>
        <p:nvSpPr>
          <p:cNvPr id="15" name="Text 12"/>
          <p:cNvSpPr/>
          <p:nvPr/>
        </p:nvSpPr>
        <p:spPr>
          <a:xfrm>
            <a:off x="571500" y="4522245"/>
            <a:ext cx="3786188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27" dirty="0">
                <a:solidFill>
                  <a:srgbClr val="37474F"/>
                </a:solidFill>
              </a:rPr>
              <a:t>A abordagem com LLM está alinhada com a Stack Técnica sugerida pelo gestor, focando em **categorização e extração** de features complexas do texto.</a:t>
            </a:r>
            <a:endParaRPr lang="en-US" sz="727" dirty="0"/>
          </a:p>
        </p:txBody>
      </p:sp>
      <p:sp>
        <p:nvSpPr>
          <p:cNvPr id="16" name="Text 13"/>
          <p:cNvSpPr/>
          <p:nvPr/>
        </p:nvSpPr>
        <p:spPr>
          <a:xfrm>
            <a:off x="4786313" y="1535906"/>
            <a:ext cx="3786188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A237E"/>
                </a:solidFill>
              </a:rPr>
              <a:t>📊 Pipeline de Processamento</a:t>
            </a:r>
            <a:endParaRPr lang="en-US" sz="987" dirty="0"/>
          </a:p>
        </p:txBody>
      </p:sp>
      <p:sp>
        <p:nvSpPr>
          <p:cNvPr id="17" name="Shape 14"/>
          <p:cNvSpPr/>
          <p:nvPr/>
        </p:nvSpPr>
        <p:spPr>
          <a:xfrm>
            <a:off x="4786313" y="1930598"/>
            <a:ext cx="3786188" cy="776883"/>
          </a:xfrm>
          <a:prstGeom prst="rect">
            <a:avLst/>
          </a:prstGeom>
          <a:solidFill>
            <a:srgbClr val="E8F5E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Shape 15"/>
          <p:cNvSpPr/>
          <p:nvPr/>
        </p:nvSpPr>
        <p:spPr>
          <a:xfrm>
            <a:off x="4786313" y="1930598"/>
            <a:ext cx="28575" cy="776883"/>
          </a:xfrm>
          <a:prstGeom prst="rect">
            <a:avLst/>
          </a:prstGeom>
          <a:solidFill>
            <a:srgbClr val="00897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Shape 16"/>
          <p:cNvSpPr/>
          <p:nvPr/>
        </p:nvSpPr>
        <p:spPr>
          <a:xfrm>
            <a:off x="4929188" y="2073473"/>
            <a:ext cx="357188" cy="357188"/>
          </a:xfrm>
          <a:prstGeom prst="ellipse">
            <a:avLst/>
          </a:prstGeom>
          <a:solidFill>
            <a:srgbClr val="F57C0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0" name="Text 17"/>
          <p:cNvSpPr/>
          <p:nvPr/>
        </p:nvSpPr>
        <p:spPr>
          <a:xfrm>
            <a:off x="4929188" y="2073473"/>
            <a:ext cx="357188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</a:rPr>
              <a:t>1</a:t>
            </a:r>
            <a:endParaRPr lang="en-US" sz="1193" dirty="0"/>
          </a:p>
        </p:txBody>
      </p:sp>
      <p:sp>
        <p:nvSpPr>
          <p:cNvPr id="21" name="Text 18"/>
          <p:cNvSpPr/>
          <p:nvPr/>
        </p:nvSpPr>
        <p:spPr>
          <a:xfrm>
            <a:off x="5393531" y="2073473"/>
            <a:ext cx="303609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A237E"/>
                </a:solidFill>
              </a:rPr>
              <a:t>Triagem de Polaridade</a:t>
            </a:r>
            <a:endParaRPr lang="en-US" sz="784" dirty="0"/>
          </a:p>
        </p:txBody>
      </p:sp>
      <p:sp>
        <p:nvSpPr>
          <p:cNvPr id="22" name="Text 19"/>
          <p:cNvSpPr/>
          <p:nvPr/>
        </p:nvSpPr>
        <p:spPr>
          <a:xfrm>
            <a:off x="5393531" y="2264569"/>
            <a:ext cx="3036094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7" dirty="0">
                <a:solidFill>
                  <a:srgbClr val="37474F"/>
                </a:solidFill>
              </a:rPr>
              <a:t>Modelo DistilBERT SA (Hugging Face) classifica o sentimento como Negativo, Neutro ou Positivo.</a:t>
            </a:r>
            <a:endParaRPr lang="en-US" sz="727" dirty="0"/>
          </a:p>
        </p:txBody>
      </p:sp>
      <p:sp>
        <p:nvSpPr>
          <p:cNvPr id="23" name="Text 20"/>
          <p:cNvSpPr/>
          <p:nvPr/>
        </p:nvSpPr>
        <p:spPr>
          <a:xfrm>
            <a:off x="4786313" y="2821781"/>
            <a:ext cx="3786188" cy="2500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897B"/>
                </a:solidFill>
              </a:rPr>
              <a:t>↓</a:t>
            </a:r>
            <a:endParaRPr lang="en-US" sz="1193" dirty="0"/>
          </a:p>
        </p:txBody>
      </p:sp>
      <p:sp>
        <p:nvSpPr>
          <p:cNvPr id="24" name="Shape 21"/>
          <p:cNvSpPr/>
          <p:nvPr/>
        </p:nvSpPr>
        <p:spPr>
          <a:xfrm>
            <a:off x="4786313" y="3243263"/>
            <a:ext cx="3786188" cy="776883"/>
          </a:xfrm>
          <a:prstGeom prst="rect">
            <a:avLst/>
          </a:prstGeom>
          <a:solidFill>
            <a:srgbClr val="E8F5E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5" name="Shape 22"/>
          <p:cNvSpPr/>
          <p:nvPr/>
        </p:nvSpPr>
        <p:spPr>
          <a:xfrm>
            <a:off x="4786313" y="3243263"/>
            <a:ext cx="28575" cy="776883"/>
          </a:xfrm>
          <a:prstGeom prst="rect">
            <a:avLst/>
          </a:prstGeom>
          <a:solidFill>
            <a:srgbClr val="00897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6" name="Shape 23"/>
          <p:cNvSpPr/>
          <p:nvPr/>
        </p:nvSpPr>
        <p:spPr>
          <a:xfrm>
            <a:off x="4929188" y="3386138"/>
            <a:ext cx="357188" cy="357188"/>
          </a:xfrm>
          <a:prstGeom prst="ellipse">
            <a:avLst/>
          </a:prstGeom>
          <a:solidFill>
            <a:srgbClr val="F57C0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7" name="Text 24"/>
          <p:cNvSpPr/>
          <p:nvPr/>
        </p:nvSpPr>
        <p:spPr>
          <a:xfrm>
            <a:off x="4929188" y="3386138"/>
            <a:ext cx="357188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</a:rPr>
              <a:t>2</a:t>
            </a:r>
            <a:endParaRPr lang="en-US" sz="1193" dirty="0"/>
          </a:p>
        </p:txBody>
      </p:sp>
      <p:sp>
        <p:nvSpPr>
          <p:cNvPr id="28" name="Text 25"/>
          <p:cNvSpPr/>
          <p:nvPr/>
        </p:nvSpPr>
        <p:spPr>
          <a:xfrm>
            <a:off x="5393531" y="3386138"/>
            <a:ext cx="303609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A237E"/>
                </a:solidFill>
              </a:rPr>
              <a:t>Correlação Funcional via LLM</a:t>
            </a:r>
            <a:endParaRPr lang="en-US" sz="784" dirty="0"/>
          </a:p>
        </p:txBody>
      </p:sp>
      <p:sp>
        <p:nvSpPr>
          <p:cNvPr id="29" name="Text 26"/>
          <p:cNvSpPr/>
          <p:nvPr/>
        </p:nvSpPr>
        <p:spPr>
          <a:xfrm>
            <a:off x="5393531" y="3577233"/>
            <a:ext cx="3036094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7" dirty="0">
                <a:solidFill>
                  <a:srgbClr val="37474F"/>
                </a:solidFill>
              </a:rPr>
              <a:t>LLM (Prompt Engineering) categoriza o comentário para uma funcionalidade (Login, PIX, etc.) e extrai o sentimento implícito.</a:t>
            </a:r>
            <a:endParaRPr lang="en-US" sz="727" dirty="0"/>
          </a:p>
        </p:txBody>
      </p:sp>
      <p:sp>
        <p:nvSpPr>
          <p:cNvPr id="30" name="Text 27"/>
          <p:cNvSpPr/>
          <p:nvPr/>
        </p:nvSpPr>
        <p:spPr>
          <a:xfrm>
            <a:off x="4786313" y="4134445"/>
            <a:ext cx="3786188" cy="2500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897B"/>
                </a:solidFill>
              </a:rPr>
              <a:t>↓</a:t>
            </a:r>
            <a:endParaRPr lang="en-US" sz="1193" dirty="0"/>
          </a:p>
        </p:txBody>
      </p:sp>
      <p:sp>
        <p:nvSpPr>
          <p:cNvPr id="31" name="Shape 28"/>
          <p:cNvSpPr/>
          <p:nvPr/>
        </p:nvSpPr>
        <p:spPr>
          <a:xfrm>
            <a:off x="4786313" y="4555927"/>
            <a:ext cx="3786188" cy="776883"/>
          </a:xfrm>
          <a:prstGeom prst="rect">
            <a:avLst/>
          </a:prstGeom>
          <a:solidFill>
            <a:srgbClr val="E8F5E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2" name="Shape 29"/>
          <p:cNvSpPr/>
          <p:nvPr/>
        </p:nvSpPr>
        <p:spPr>
          <a:xfrm>
            <a:off x="4786313" y="4555927"/>
            <a:ext cx="28575" cy="776883"/>
          </a:xfrm>
          <a:prstGeom prst="rect">
            <a:avLst/>
          </a:prstGeom>
          <a:solidFill>
            <a:srgbClr val="00897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3" name="Shape 30"/>
          <p:cNvSpPr/>
          <p:nvPr/>
        </p:nvSpPr>
        <p:spPr>
          <a:xfrm>
            <a:off x="4929188" y="4698802"/>
            <a:ext cx="357188" cy="357188"/>
          </a:xfrm>
          <a:prstGeom prst="ellipse">
            <a:avLst/>
          </a:prstGeom>
          <a:solidFill>
            <a:srgbClr val="F57C0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4" name="Text 31"/>
          <p:cNvSpPr/>
          <p:nvPr/>
        </p:nvSpPr>
        <p:spPr>
          <a:xfrm>
            <a:off x="4929188" y="4698802"/>
            <a:ext cx="357188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</a:rPr>
              <a:t>3</a:t>
            </a:r>
            <a:endParaRPr lang="en-US" sz="1193" dirty="0"/>
          </a:p>
        </p:txBody>
      </p:sp>
      <p:sp>
        <p:nvSpPr>
          <p:cNvPr id="35" name="Text 32"/>
          <p:cNvSpPr/>
          <p:nvPr/>
        </p:nvSpPr>
        <p:spPr>
          <a:xfrm>
            <a:off x="5393531" y="4698802"/>
            <a:ext cx="303609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A237E"/>
                </a:solidFill>
              </a:rPr>
              <a:t>Storage e Saída</a:t>
            </a:r>
            <a:endParaRPr lang="en-US" sz="784" dirty="0"/>
          </a:p>
        </p:txBody>
      </p:sp>
      <p:sp>
        <p:nvSpPr>
          <p:cNvPr id="36" name="Text 33"/>
          <p:cNvSpPr/>
          <p:nvPr/>
        </p:nvSpPr>
        <p:spPr>
          <a:xfrm>
            <a:off x="5393531" y="4889897"/>
            <a:ext cx="3036094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7" dirty="0">
                <a:solidFill>
                  <a:srgbClr val="37474F"/>
                </a:solidFill>
              </a:rPr>
              <a:t>Armazenamento estruturado (Sentimento + Funcionalidade + Volume) em Neo4j (Grafo) e PostgreSQL.</a:t>
            </a:r>
            <a:endParaRPr lang="en-US" sz="727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71500" y="600075"/>
            <a:ext cx="8572500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A237E"/>
                </a:solidFill>
              </a:rPr>
              <a:t>Avaliação</a:t>
            </a:r>
            <a:endParaRPr lang="en-US" sz="1602" dirty="0"/>
          </a:p>
        </p:txBody>
      </p:sp>
      <p:sp>
        <p:nvSpPr>
          <p:cNvPr id="4" name="Text 1"/>
          <p:cNvSpPr/>
          <p:nvPr/>
        </p:nvSpPr>
        <p:spPr>
          <a:xfrm>
            <a:off x="571500" y="984052"/>
            <a:ext cx="8572500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897B"/>
                </a:solidFill>
              </a:rPr>
              <a:t>Evaluation</a:t>
            </a:r>
            <a:endParaRPr lang="en-US" sz="987" dirty="0"/>
          </a:p>
        </p:txBody>
      </p:sp>
      <p:sp>
        <p:nvSpPr>
          <p:cNvPr id="5" name="Text 2"/>
          <p:cNvSpPr/>
          <p:nvPr/>
        </p:nvSpPr>
        <p:spPr>
          <a:xfrm>
            <a:off x="571500" y="1464469"/>
            <a:ext cx="1417055" cy="17312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1A237E"/>
                </a:solidFill>
                <a:latin typeface="Saira" pitchFamily="2" charset="0"/>
              </a:rPr>
              <a:t>🎯 Foco Principal (LLM)</a:t>
            </a:r>
            <a:endParaRPr lang="en-US" sz="1000" dirty="0">
              <a:latin typeface="Saira" pitchFamily="2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571500" y="1716286"/>
            <a:ext cx="3786188" cy="3526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37474F"/>
                </a:solidFill>
                <a:latin typeface="Saira" pitchFamily="2" charset="0"/>
              </a:rPr>
              <a:t>Garantir a **qualidade da extração de features** e a **precisão da categorização funcional** do LLM.</a:t>
            </a:r>
            <a:endParaRPr lang="en-US" sz="1000" dirty="0">
              <a:latin typeface="Saira" pitchFamily="2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571500" y="2167737"/>
            <a:ext cx="1506823" cy="17267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1A237E"/>
                </a:solidFill>
                <a:latin typeface="Saira" pitchFamily="2" charset="0"/>
              </a:rPr>
              <a:t>📊 Métricas de Validação</a:t>
            </a:r>
            <a:endParaRPr lang="en-US" sz="1000" dirty="0">
              <a:latin typeface="Saira" pitchFamily="2" charset="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571500" y="2419555"/>
            <a:ext cx="3786188" cy="44827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pt-BR" sz="1000">
              <a:latin typeface="Saira" pitchFamily="2" charset="0"/>
            </a:endParaRPr>
          </a:p>
        </p:txBody>
      </p:sp>
      <p:sp>
        <p:nvSpPr>
          <p:cNvPr id="9" name="Shape 6"/>
          <p:cNvSpPr/>
          <p:nvPr/>
        </p:nvSpPr>
        <p:spPr>
          <a:xfrm>
            <a:off x="571500" y="2419555"/>
            <a:ext cx="28575" cy="448270"/>
          </a:xfrm>
          <a:prstGeom prst="rect">
            <a:avLst/>
          </a:prstGeom>
          <a:solidFill>
            <a:srgbClr val="00897B"/>
          </a:solidFill>
          <a:ln/>
        </p:spPr>
        <p:txBody>
          <a:bodyPr/>
          <a:lstStyle/>
          <a:p>
            <a:endParaRPr lang="pt-BR" sz="1000">
              <a:latin typeface="Saira" pitchFamily="2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642938" y="2490992"/>
            <a:ext cx="514564" cy="14427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1000" b="1" dirty="0">
                <a:solidFill>
                  <a:srgbClr val="1A237E"/>
                </a:solidFill>
                <a:latin typeface="Saira" pitchFamily="2" charset="0"/>
              </a:rPr>
              <a:t>Acurácia</a:t>
            </a:r>
            <a:endParaRPr lang="en-US" sz="1000" dirty="0">
              <a:latin typeface="Saira" pitchFamily="2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642938" y="2660656"/>
            <a:ext cx="3464090" cy="1250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1000" dirty="0">
                <a:solidFill>
                  <a:srgbClr val="37474F"/>
                </a:solidFill>
                <a:latin typeface="Saira" pitchFamily="2" charset="0"/>
              </a:rPr>
              <a:t>Medida geral de acerto do LLM na categorização funcional.</a:t>
            </a:r>
            <a:endParaRPr lang="en-US" sz="1000" dirty="0">
              <a:latin typeface="Saira" pitchFamily="2" charset="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571500" y="2910687"/>
            <a:ext cx="3786188" cy="44827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pt-BR" sz="1000">
              <a:latin typeface="Saira" pitchFamily="2" charset="0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571500" y="2910687"/>
            <a:ext cx="28575" cy="448270"/>
          </a:xfrm>
          <a:prstGeom prst="rect">
            <a:avLst/>
          </a:prstGeom>
          <a:solidFill>
            <a:srgbClr val="00897B"/>
          </a:solidFill>
          <a:ln/>
        </p:spPr>
        <p:txBody>
          <a:bodyPr/>
          <a:lstStyle/>
          <a:p>
            <a:endParaRPr lang="pt-BR" sz="1000">
              <a:latin typeface="Saira" pitchFamily="2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642938" y="2982125"/>
            <a:ext cx="512961" cy="14427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1000" b="1" dirty="0">
                <a:solidFill>
                  <a:srgbClr val="1A237E"/>
                </a:solidFill>
                <a:latin typeface="Saira" pitchFamily="2" charset="0"/>
              </a:rPr>
              <a:t>Precisão</a:t>
            </a:r>
            <a:endParaRPr lang="en-US" sz="1000" dirty="0">
              <a:latin typeface="Saira" pitchFamily="2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642938" y="3151789"/>
            <a:ext cx="4523674" cy="1250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1000" dirty="0">
                <a:solidFill>
                  <a:srgbClr val="37474F"/>
                </a:solidFill>
                <a:latin typeface="Saira" pitchFamily="2" charset="0"/>
              </a:rPr>
              <a:t>Proporção de categorias funcionais corretas entre as classificações positivas.</a:t>
            </a:r>
            <a:endParaRPr lang="en-US" sz="1000" dirty="0">
              <a:latin typeface="Saira" pitchFamily="2" charset="0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571500" y="3401820"/>
            <a:ext cx="3786188" cy="584002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pt-BR" sz="1000">
              <a:latin typeface="Saira" pitchFamily="2" charset="0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571500" y="3401820"/>
            <a:ext cx="28575" cy="584002"/>
          </a:xfrm>
          <a:prstGeom prst="rect">
            <a:avLst/>
          </a:prstGeom>
          <a:solidFill>
            <a:srgbClr val="00897B"/>
          </a:solidFill>
          <a:ln/>
        </p:spPr>
        <p:txBody>
          <a:bodyPr/>
          <a:lstStyle/>
          <a:p>
            <a:endParaRPr lang="pt-BR" sz="1000">
              <a:latin typeface="Saira" pitchFamily="2" charset="0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642938" y="3473258"/>
            <a:ext cx="1123706" cy="14427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1000" b="1" dirty="0">
                <a:solidFill>
                  <a:srgbClr val="1A237E"/>
                </a:solidFill>
                <a:latin typeface="Saira" pitchFamily="2" charset="0"/>
              </a:rPr>
              <a:t>Revocação (Recall)</a:t>
            </a:r>
            <a:endParaRPr lang="en-US" sz="1000" dirty="0">
              <a:latin typeface="Saira" pitchFamily="2" charset="0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642938" y="3642922"/>
            <a:ext cx="3643313" cy="240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1000" dirty="0">
                <a:solidFill>
                  <a:srgbClr val="37474F"/>
                </a:solidFill>
                <a:latin typeface="Saira" pitchFamily="2" charset="0"/>
              </a:rPr>
              <a:t>Proporção de reclamações funcionais reais que foram corretamente identificadas.</a:t>
            </a:r>
            <a:endParaRPr lang="en-US" sz="1000" dirty="0">
              <a:latin typeface="Saira" pitchFamily="2" charset="0"/>
            </a:endParaRPr>
          </a:p>
        </p:txBody>
      </p:sp>
      <p:sp>
        <p:nvSpPr>
          <p:cNvPr id="20" name="Shape 17"/>
          <p:cNvSpPr/>
          <p:nvPr/>
        </p:nvSpPr>
        <p:spPr>
          <a:xfrm>
            <a:off x="571500" y="4028684"/>
            <a:ext cx="3786188" cy="584002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pt-BR" sz="1000">
              <a:latin typeface="Saira" pitchFamily="2" charset="0"/>
            </a:endParaRPr>
          </a:p>
        </p:txBody>
      </p:sp>
      <p:sp>
        <p:nvSpPr>
          <p:cNvPr id="21" name="Shape 18"/>
          <p:cNvSpPr/>
          <p:nvPr/>
        </p:nvSpPr>
        <p:spPr>
          <a:xfrm>
            <a:off x="571500" y="4028684"/>
            <a:ext cx="28575" cy="584002"/>
          </a:xfrm>
          <a:prstGeom prst="rect">
            <a:avLst/>
          </a:prstGeom>
          <a:solidFill>
            <a:srgbClr val="00897B"/>
          </a:solidFill>
          <a:ln/>
        </p:spPr>
        <p:txBody>
          <a:bodyPr/>
          <a:lstStyle/>
          <a:p>
            <a:endParaRPr lang="pt-BR" sz="1000">
              <a:latin typeface="Saira" pitchFamily="2" charset="0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642938" y="4100122"/>
            <a:ext cx="509755" cy="14427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1000" b="1" dirty="0">
                <a:solidFill>
                  <a:srgbClr val="1A237E"/>
                </a:solidFill>
                <a:latin typeface="Saira" pitchFamily="2" charset="0"/>
              </a:rPr>
              <a:t>F1-Score</a:t>
            </a:r>
            <a:endParaRPr lang="en-US" sz="1000" dirty="0">
              <a:latin typeface="Saira" pitchFamily="2" charset="0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642938" y="4269786"/>
            <a:ext cx="3643313" cy="240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1000" dirty="0">
                <a:solidFill>
                  <a:srgbClr val="37474F"/>
                </a:solidFill>
                <a:latin typeface="Saira" pitchFamily="2" charset="0"/>
              </a:rPr>
              <a:t>Métrica principal: equilíbrio entre Precisão e Revocação na tarefa de correlação.</a:t>
            </a:r>
            <a:endParaRPr lang="en-US" sz="1000" dirty="0">
              <a:latin typeface="Saira" pitchFamily="2" charset="0"/>
            </a:endParaRPr>
          </a:p>
        </p:txBody>
      </p:sp>
      <p:sp>
        <p:nvSpPr>
          <p:cNvPr id="24" name="Shape 21"/>
          <p:cNvSpPr/>
          <p:nvPr/>
        </p:nvSpPr>
        <p:spPr>
          <a:xfrm>
            <a:off x="571500" y="4726986"/>
            <a:ext cx="3786188" cy="858645"/>
          </a:xfrm>
          <a:prstGeom prst="rect">
            <a:avLst/>
          </a:prstGeom>
          <a:solidFill>
            <a:srgbClr val="FFF3E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5" name="Shape 22"/>
          <p:cNvSpPr/>
          <p:nvPr/>
        </p:nvSpPr>
        <p:spPr>
          <a:xfrm>
            <a:off x="571500" y="4726986"/>
            <a:ext cx="28575" cy="858645"/>
          </a:xfrm>
          <a:prstGeom prst="rect">
            <a:avLst/>
          </a:prstGeom>
          <a:solidFill>
            <a:srgbClr val="F57C0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6" name="Text 23"/>
          <p:cNvSpPr/>
          <p:nvPr/>
        </p:nvSpPr>
        <p:spPr>
          <a:xfrm>
            <a:off x="642938" y="4798423"/>
            <a:ext cx="1457130" cy="14427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1000" b="1" dirty="0">
                <a:solidFill>
                  <a:srgbClr val="F57C00"/>
                </a:solidFill>
                <a:latin typeface="Saira" pitchFamily="2" charset="0"/>
              </a:rPr>
              <a:t>✓ Resultados Esperados</a:t>
            </a:r>
            <a:endParaRPr lang="en-US" sz="1000" dirty="0">
              <a:latin typeface="Saira" pitchFamily="2" charset="0"/>
            </a:endParaRPr>
          </a:p>
        </p:txBody>
      </p:sp>
      <p:sp>
        <p:nvSpPr>
          <p:cNvPr id="27" name="Text 24"/>
          <p:cNvSpPr/>
          <p:nvPr/>
        </p:nvSpPr>
        <p:spPr>
          <a:xfrm>
            <a:off x="642938" y="5034167"/>
            <a:ext cx="3643313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27" dirty="0">
                <a:solidFill>
                  <a:srgbClr val="37474F"/>
                </a:solidFill>
              </a:rPr>
              <a:t>Validação da eficácia do LLM na correlação e geração de um backlog priorizado que discrimina as funcionalidades com maior volume de sentimentos negativos.</a:t>
            </a:r>
            <a:endParaRPr lang="en-US" sz="727" dirty="0"/>
          </a:p>
        </p:txBody>
      </p:sp>
      <p:sp>
        <p:nvSpPr>
          <p:cNvPr id="28" name="Text 25"/>
          <p:cNvSpPr/>
          <p:nvPr/>
        </p:nvSpPr>
        <p:spPr>
          <a:xfrm>
            <a:off x="4786313" y="1464469"/>
            <a:ext cx="1455527" cy="17312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1A237E"/>
                </a:solidFill>
                <a:latin typeface="Saira" pitchFamily="2" charset="0"/>
              </a:rPr>
              <a:t>🔍 Desafio da Avaliação</a:t>
            </a:r>
            <a:endParaRPr lang="en-US" sz="1000" dirty="0">
              <a:latin typeface="Saira" pitchFamily="2" charset="0"/>
            </a:endParaRPr>
          </a:p>
        </p:txBody>
      </p:sp>
      <p:sp>
        <p:nvSpPr>
          <p:cNvPr id="29" name="Text 26"/>
          <p:cNvSpPr/>
          <p:nvPr/>
        </p:nvSpPr>
        <p:spPr>
          <a:xfrm>
            <a:off x="4786313" y="1823442"/>
            <a:ext cx="3786188" cy="643125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t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1000" b="1" dirty="0">
                <a:solidFill>
                  <a:srgbClr val="1A237E"/>
                </a:solidFill>
                <a:latin typeface="Saira" pitchFamily="2" charset="0"/>
              </a:rPr>
              <a:t>A avaliação do LLM exige a criação de um **dataset de teste rotulado por humanos** para validar a qualidade do *prompt engineering* e a capacidade de extração de *features* complexas.</a:t>
            </a:r>
            <a:endParaRPr lang="en-US" sz="1000" dirty="0">
              <a:latin typeface="Saira" pitchFamily="2" charset="0"/>
            </a:endParaRPr>
          </a:p>
        </p:txBody>
      </p:sp>
      <p:pic>
        <p:nvPicPr>
          <p:cNvPr id="3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6313" y="2494955"/>
            <a:ext cx="3786188" cy="214312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600075"/>
            <a:ext cx="8572500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A237E"/>
                </a:solidFill>
              </a:rPr>
              <a:t>Implantação</a:t>
            </a:r>
            <a:endParaRPr lang="en-US" sz="1602" dirty="0"/>
          </a:p>
        </p:txBody>
      </p:sp>
      <p:sp>
        <p:nvSpPr>
          <p:cNvPr id="4" name="Text 1"/>
          <p:cNvSpPr/>
          <p:nvPr/>
        </p:nvSpPr>
        <p:spPr>
          <a:xfrm>
            <a:off x="571500" y="984052"/>
            <a:ext cx="8572500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897B"/>
                </a:solidFill>
              </a:rPr>
              <a:t>Deployment - Integração e Ação Estratégica</a:t>
            </a:r>
            <a:endParaRPr lang="en-US" sz="987" dirty="0"/>
          </a:p>
        </p:txBody>
      </p:sp>
      <p:sp>
        <p:nvSpPr>
          <p:cNvPr id="5" name="Text 2"/>
          <p:cNvSpPr/>
          <p:nvPr/>
        </p:nvSpPr>
        <p:spPr>
          <a:xfrm>
            <a:off x="571500" y="1464469"/>
            <a:ext cx="8001000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A237E"/>
                </a:solidFill>
              </a:rPr>
              <a:t>Fluxo de Integração da API de Correlação</a:t>
            </a:r>
            <a:endParaRPr lang="en-US" sz="987" dirty="0"/>
          </a:p>
        </p:txBody>
      </p:sp>
      <p:sp>
        <p:nvSpPr>
          <p:cNvPr id="6" name="Shape 3"/>
          <p:cNvSpPr/>
          <p:nvPr/>
        </p:nvSpPr>
        <p:spPr>
          <a:xfrm>
            <a:off x="571500" y="1802011"/>
            <a:ext cx="1614460" cy="980787"/>
          </a:xfrm>
          <a:prstGeom prst="rect">
            <a:avLst/>
          </a:prstGeom>
          <a:solidFill>
            <a:srgbClr val="F0F4F8"/>
          </a:solidFill>
          <a:ln w="18288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4"/>
          <p:cNvSpPr/>
          <p:nvPr/>
        </p:nvSpPr>
        <p:spPr>
          <a:xfrm>
            <a:off x="714375" y="1959173"/>
            <a:ext cx="130727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A237E"/>
                </a:solidFill>
              </a:rPr>
              <a:t>1️⃣ Entrada</a:t>
            </a:r>
            <a:endParaRPr lang="en-US" sz="885" dirty="0"/>
          </a:p>
        </p:txBody>
      </p:sp>
      <p:sp>
        <p:nvSpPr>
          <p:cNvPr id="8" name="Text 5"/>
          <p:cNvSpPr/>
          <p:nvPr/>
        </p:nvSpPr>
        <p:spPr>
          <a:xfrm>
            <a:off x="714375" y="2205633"/>
            <a:ext cx="1307278" cy="42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727" dirty="0">
                <a:solidFill>
                  <a:srgbClr val="37474F"/>
                </a:solidFill>
              </a:rPr>
              <a:t>API recebe novos comentários via webhook ou batch</a:t>
            </a:r>
            <a:endParaRPr lang="en-US" sz="727" dirty="0"/>
          </a:p>
        </p:txBody>
      </p:sp>
      <p:sp>
        <p:nvSpPr>
          <p:cNvPr id="9" name="Text 6"/>
          <p:cNvSpPr/>
          <p:nvPr/>
        </p:nvSpPr>
        <p:spPr>
          <a:xfrm>
            <a:off x="2307403" y="2126298"/>
            <a:ext cx="228628" cy="3321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00897B"/>
                </a:solidFill>
              </a:rPr>
              <a:t>→</a:t>
            </a:r>
            <a:endParaRPr lang="en-US" sz="1602" dirty="0"/>
          </a:p>
        </p:txBody>
      </p:sp>
      <p:sp>
        <p:nvSpPr>
          <p:cNvPr id="10" name="Shape 7"/>
          <p:cNvSpPr/>
          <p:nvPr/>
        </p:nvSpPr>
        <p:spPr>
          <a:xfrm>
            <a:off x="2678906" y="1863765"/>
            <a:ext cx="1621603" cy="857250"/>
          </a:xfrm>
          <a:prstGeom prst="rect">
            <a:avLst/>
          </a:prstGeom>
          <a:solidFill>
            <a:srgbClr val="F0F4F8"/>
          </a:solidFill>
          <a:ln w="18288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8"/>
          <p:cNvSpPr/>
          <p:nvPr/>
        </p:nvSpPr>
        <p:spPr>
          <a:xfrm>
            <a:off x="2828925" y="2029160"/>
            <a:ext cx="1314422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A237E"/>
                </a:solidFill>
              </a:rPr>
              <a:t>2️⃣ Processamento</a:t>
            </a:r>
            <a:endParaRPr lang="en-US" sz="885" dirty="0"/>
          </a:p>
        </p:txBody>
      </p:sp>
      <p:sp>
        <p:nvSpPr>
          <p:cNvPr id="12" name="Text 9"/>
          <p:cNvSpPr/>
          <p:nvPr/>
        </p:nvSpPr>
        <p:spPr>
          <a:xfrm>
            <a:off x="2828925" y="2275619"/>
            <a:ext cx="1314422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727" dirty="0">
                <a:solidFill>
                  <a:srgbClr val="37474F"/>
                </a:solidFill>
              </a:rPr>
              <a:t>Pipeline: Polaridade + Correlação Funcional</a:t>
            </a:r>
            <a:endParaRPr lang="en-US" sz="727" dirty="0"/>
          </a:p>
        </p:txBody>
      </p:sp>
      <p:sp>
        <p:nvSpPr>
          <p:cNvPr id="13" name="Text 10"/>
          <p:cNvSpPr/>
          <p:nvPr/>
        </p:nvSpPr>
        <p:spPr>
          <a:xfrm>
            <a:off x="4429097" y="2126298"/>
            <a:ext cx="228628" cy="3321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00897B"/>
                </a:solidFill>
              </a:rPr>
              <a:t>→</a:t>
            </a:r>
            <a:endParaRPr lang="en-US" sz="1602" dirty="0"/>
          </a:p>
        </p:txBody>
      </p:sp>
      <p:sp>
        <p:nvSpPr>
          <p:cNvPr id="14" name="Shape 11"/>
          <p:cNvSpPr/>
          <p:nvPr/>
        </p:nvSpPr>
        <p:spPr>
          <a:xfrm>
            <a:off x="4800600" y="1802011"/>
            <a:ext cx="1628747" cy="980787"/>
          </a:xfrm>
          <a:prstGeom prst="rect">
            <a:avLst/>
          </a:prstGeom>
          <a:solidFill>
            <a:srgbClr val="F0F4F8"/>
          </a:solidFill>
          <a:ln w="18288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2"/>
          <p:cNvSpPr/>
          <p:nvPr/>
        </p:nvSpPr>
        <p:spPr>
          <a:xfrm>
            <a:off x="4957763" y="1959173"/>
            <a:ext cx="132156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A237E"/>
                </a:solidFill>
              </a:rPr>
              <a:t>3️⃣ Saída</a:t>
            </a:r>
            <a:endParaRPr lang="en-US" sz="885" dirty="0"/>
          </a:p>
        </p:txBody>
      </p:sp>
      <p:sp>
        <p:nvSpPr>
          <p:cNvPr id="16" name="Text 13"/>
          <p:cNvSpPr/>
          <p:nvPr/>
        </p:nvSpPr>
        <p:spPr>
          <a:xfrm>
            <a:off x="4957763" y="2205633"/>
            <a:ext cx="1321566" cy="42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727" dirty="0">
                <a:solidFill>
                  <a:srgbClr val="37474F"/>
                </a:solidFill>
              </a:rPr>
              <a:t>JSON estruturado (Sentimento, Funcionalidade, Volume)</a:t>
            </a:r>
            <a:endParaRPr lang="en-US" sz="727" dirty="0"/>
          </a:p>
        </p:txBody>
      </p:sp>
      <p:sp>
        <p:nvSpPr>
          <p:cNvPr id="17" name="Text 14"/>
          <p:cNvSpPr/>
          <p:nvPr/>
        </p:nvSpPr>
        <p:spPr>
          <a:xfrm>
            <a:off x="6565078" y="2126298"/>
            <a:ext cx="228628" cy="3321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00897B"/>
                </a:solidFill>
              </a:rPr>
              <a:t>→</a:t>
            </a:r>
            <a:endParaRPr lang="en-US" sz="1602" dirty="0"/>
          </a:p>
        </p:txBody>
      </p:sp>
      <p:sp>
        <p:nvSpPr>
          <p:cNvPr id="18" name="Shape 15"/>
          <p:cNvSpPr/>
          <p:nvPr/>
        </p:nvSpPr>
        <p:spPr>
          <a:xfrm>
            <a:off x="6936581" y="1802011"/>
            <a:ext cx="1635891" cy="980787"/>
          </a:xfrm>
          <a:prstGeom prst="rect">
            <a:avLst/>
          </a:prstGeom>
          <a:solidFill>
            <a:srgbClr val="F0F4F8"/>
          </a:solidFill>
          <a:ln w="18288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 16"/>
          <p:cNvSpPr/>
          <p:nvPr/>
        </p:nvSpPr>
        <p:spPr>
          <a:xfrm>
            <a:off x="7100888" y="1944886"/>
            <a:ext cx="132871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A237E"/>
                </a:solidFill>
              </a:rPr>
              <a:t>4️⃣ Ação</a:t>
            </a:r>
            <a:endParaRPr lang="en-US" sz="885" dirty="0"/>
          </a:p>
        </p:txBody>
      </p:sp>
      <p:sp>
        <p:nvSpPr>
          <p:cNvPr id="20" name="Text 17"/>
          <p:cNvSpPr/>
          <p:nvPr/>
        </p:nvSpPr>
        <p:spPr>
          <a:xfrm>
            <a:off x="7100888" y="2191345"/>
            <a:ext cx="1328710" cy="42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727" dirty="0">
                <a:solidFill>
                  <a:srgbClr val="37474F"/>
                </a:solidFill>
              </a:rPr>
              <a:t>Ferramentas de gestão consomem dados para decisão</a:t>
            </a:r>
            <a:endParaRPr lang="en-US" sz="727" dirty="0"/>
          </a:p>
        </p:txBody>
      </p:sp>
      <p:sp>
        <p:nvSpPr>
          <p:cNvPr id="21" name="Shape 18"/>
          <p:cNvSpPr/>
          <p:nvPr/>
        </p:nvSpPr>
        <p:spPr>
          <a:xfrm>
            <a:off x="571500" y="3985878"/>
            <a:ext cx="3893344" cy="1157622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Shape 19"/>
          <p:cNvSpPr/>
          <p:nvPr/>
        </p:nvSpPr>
        <p:spPr>
          <a:xfrm>
            <a:off x="571500" y="3985878"/>
            <a:ext cx="28575" cy="1157622"/>
          </a:xfrm>
          <a:prstGeom prst="rect">
            <a:avLst/>
          </a:prstGeom>
          <a:solidFill>
            <a:srgbClr val="F57C0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3" name="Text 20"/>
          <p:cNvSpPr/>
          <p:nvPr/>
        </p:nvSpPr>
        <p:spPr>
          <a:xfrm>
            <a:off x="714375" y="4128753"/>
            <a:ext cx="3607594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69" dirty="0">
                <a:solidFill>
                  <a:srgbClr val="000000"/>
                </a:solidFill>
              </a:rPr>
              <a:t>📋</a:t>
            </a:r>
            <a:endParaRPr lang="en-US" sz="1269" dirty="0"/>
          </a:p>
        </p:txBody>
      </p:sp>
      <p:sp>
        <p:nvSpPr>
          <p:cNvPr id="24" name="Text 21"/>
          <p:cNvSpPr/>
          <p:nvPr/>
        </p:nvSpPr>
        <p:spPr>
          <a:xfrm>
            <a:off x="714375" y="4434148"/>
            <a:ext cx="3607594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A237E"/>
                </a:solidFill>
              </a:rPr>
              <a:t>Priorização de Backlog</a:t>
            </a:r>
            <a:endParaRPr lang="en-US" sz="885" dirty="0"/>
          </a:p>
        </p:txBody>
      </p:sp>
      <p:sp>
        <p:nvSpPr>
          <p:cNvPr id="25" name="Text 22"/>
          <p:cNvSpPr/>
          <p:nvPr/>
        </p:nvSpPr>
        <p:spPr>
          <a:xfrm>
            <a:off x="714375" y="4680607"/>
            <a:ext cx="3607594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27" dirty="0">
                <a:solidFill>
                  <a:srgbClr val="37474F"/>
                </a:solidFill>
              </a:rPr>
              <a:t>Criação automática de tickets para falhas críticas, ordenados por volume de reclamações e severidade do sentimento negativo.</a:t>
            </a:r>
            <a:endParaRPr lang="en-US" sz="727" dirty="0"/>
          </a:p>
        </p:txBody>
      </p:sp>
      <p:sp>
        <p:nvSpPr>
          <p:cNvPr id="26" name="Shape 23"/>
          <p:cNvSpPr/>
          <p:nvPr/>
        </p:nvSpPr>
        <p:spPr>
          <a:xfrm>
            <a:off x="4679156" y="3985878"/>
            <a:ext cx="3893344" cy="1157622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7" name="Shape 24"/>
          <p:cNvSpPr/>
          <p:nvPr/>
        </p:nvSpPr>
        <p:spPr>
          <a:xfrm>
            <a:off x="4679156" y="3985878"/>
            <a:ext cx="28575" cy="1157622"/>
          </a:xfrm>
          <a:prstGeom prst="rect">
            <a:avLst/>
          </a:prstGeom>
          <a:solidFill>
            <a:srgbClr val="F57C0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8" name="Text 25"/>
          <p:cNvSpPr/>
          <p:nvPr/>
        </p:nvSpPr>
        <p:spPr>
          <a:xfrm>
            <a:off x="4822031" y="4128753"/>
            <a:ext cx="3607594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69" dirty="0">
                <a:solidFill>
                  <a:srgbClr val="000000"/>
                </a:solidFill>
              </a:rPr>
              <a:t>🚀</a:t>
            </a:r>
            <a:endParaRPr lang="en-US" sz="1269" dirty="0"/>
          </a:p>
        </p:txBody>
      </p:sp>
      <p:sp>
        <p:nvSpPr>
          <p:cNvPr id="29" name="Text 26"/>
          <p:cNvSpPr/>
          <p:nvPr/>
        </p:nvSpPr>
        <p:spPr>
          <a:xfrm>
            <a:off x="4822031" y="4434148"/>
            <a:ext cx="3607594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A237E"/>
                </a:solidFill>
              </a:rPr>
              <a:t>Gestão de Deploy</a:t>
            </a:r>
            <a:endParaRPr lang="en-US" sz="885" dirty="0"/>
          </a:p>
        </p:txBody>
      </p:sp>
      <p:sp>
        <p:nvSpPr>
          <p:cNvPr id="30" name="Text 27"/>
          <p:cNvSpPr/>
          <p:nvPr/>
        </p:nvSpPr>
        <p:spPr>
          <a:xfrm>
            <a:off x="4822031" y="4680607"/>
            <a:ext cx="3607594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27" dirty="0">
                <a:solidFill>
                  <a:srgbClr val="37474F"/>
                </a:solidFill>
              </a:rPr>
              <a:t>Correlação de sentimentos negativos com versões do aplicativo, permitindo identificação imediata de regressões e decisão de rollback.</a:t>
            </a:r>
            <a:endParaRPr lang="en-US" sz="727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600075"/>
            <a:ext cx="8572500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A237E"/>
                </a:solidFill>
              </a:rPr>
              <a:t>Transformando Feedback em Vantagem Competitiva</a:t>
            </a:r>
            <a:endParaRPr lang="en-US" sz="1602" dirty="0"/>
          </a:p>
        </p:txBody>
      </p:sp>
      <p:sp>
        <p:nvSpPr>
          <p:cNvPr id="4" name="Text 1"/>
          <p:cNvSpPr/>
          <p:nvPr/>
        </p:nvSpPr>
        <p:spPr>
          <a:xfrm>
            <a:off x="571500" y="984052"/>
            <a:ext cx="8572500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897B"/>
                </a:solidFill>
              </a:rPr>
              <a:t>Conclusão e Próximos Passos</a:t>
            </a:r>
            <a:endParaRPr lang="en-US" sz="987" dirty="0"/>
          </a:p>
        </p:txBody>
      </p:sp>
      <p:sp>
        <p:nvSpPr>
          <p:cNvPr id="5" name="Shape 2"/>
          <p:cNvSpPr/>
          <p:nvPr/>
        </p:nvSpPr>
        <p:spPr>
          <a:xfrm>
            <a:off x="571500" y="1607344"/>
            <a:ext cx="3786188" cy="1080799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Shape 3"/>
          <p:cNvSpPr/>
          <p:nvPr/>
        </p:nvSpPr>
        <p:spPr>
          <a:xfrm>
            <a:off x="571500" y="1607344"/>
            <a:ext cx="28575" cy="1080799"/>
          </a:xfrm>
          <a:prstGeom prst="rect">
            <a:avLst/>
          </a:prstGeom>
          <a:solidFill>
            <a:srgbClr val="00897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4"/>
          <p:cNvSpPr/>
          <p:nvPr/>
        </p:nvSpPr>
        <p:spPr>
          <a:xfrm>
            <a:off x="714375" y="1750219"/>
            <a:ext cx="350043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A237E"/>
                </a:solidFill>
              </a:rPr>
              <a:t>🔄 Ciclo de Melhoria Contínua</a:t>
            </a:r>
            <a:endParaRPr lang="en-US" sz="885" dirty="0"/>
          </a:p>
        </p:txBody>
      </p:sp>
      <p:sp>
        <p:nvSpPr>
          <p:cNvPr id="8" name="Text 5"/>
          <p:cNvSpPr/>
          <p:nvPr/>
        </p:nvSpPr>
        <p:spPr>
          <a:xfrm>
            <a:off x="714375" y="1996678"/>
            <a:ext cx="3500438" cy="548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37474F"/>
                </a:solidFill>
              </a:rPr>
              <a:t>O projeto estabelece um ciclo virtuoso, transformando o </a:t>
            </a:r>
            <a:r>
              <a:rPr lang="en-US" sz="784" b="1" dirty="0">
                <a:solidFill>
                  <a:srgbClr val="F57C00"/>
                </a:solidFill>
              </a:rPr>
              <a:t>feedback do cliente</a:t>
            </a:r>
            <a:r>
              <a:rPr lang="en-US" sz="834" dirty="0">
                <a:solidFill>
                  <a:srgbClr val="37474F"/>
                </a:solidFill>
              </a:rPr>
              <a:t> em um ativo estratégico para decisões de desenvolvimento.</a:t>
            </a:r>
            <a:endParaRPr lang="en-US" sz="834" dirty="0"/>
          </a:p>
        </p:txBody>
      </p:sp>
      <p:sp>
        <p:nvSpPr>
          <p:cNvPr id="9" name="Shape 6"/>
          <p:cNvSpPr/>
          <p:nvPr/>
        </p:nvSpPr>
        <p:spPr>
          <a:xfrm>
            <a:off x="571500" y="2866737"/>
            <a:ext cx="3786188" cy="897936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Shape 7"/>
          <p:cNvSpPr/>
          <p:nvPr/>
        </p:nvSpPr>
        <p:spPr>
          <a:xfrm>
            <a:off x="571500" y="2866737"/>
            <a:ext cx="28575" cy="897936"/>
          </a:xfrm>
          <a:prstGeom prst="rect">
            <a:avLst/>
          </a:prstGeom>
          <a:solidFill>
            <a:srgbClr val="00897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8"/>
          <p:cNvSpPr/>
          <p:nvPr/>
        </p:nvSpPr>
        <p:spPr>
          <a:xfrm>
            <a:off x="714375" y="3009612"/>
            <a:ext cx="350043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A237E"/>
                </a:solidFill>
              </a:rPr>
              <a:t>🎯 A Correlação Funcional</a:t>
            </a:r>
            <a:endParaRPr lang="en-US" sz="885" dirty="0"/>
          </a:p>
        </p:txBody>
      </p:sp>
      <p:sp>
        <p:nvSpPr>
          <p:cNvPr id="12" name="Text 9"/>
          <p:cNvSpPr/>
          <p:nvPr/>
        </p:nvSpPr>
        <p:spPr>
          <a:xfrm>
            <a:off x="714375" y="3256071"/>
            <a:ext cx="3500438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37474F"/>
                </a:solidFill>
              </a:rPr>
              <a:t>É a </a:t>
            </a:r>
            <a:r>
              <a:rPr lang="en-US" sz="784" b="1" dirty="0">
                <a:solidFill>
                  <a:srgbClr val="F57C00"/>
                </a:solidFill>
              </a:rPr>
              <a:t>chave para atuação proativa</a:t>
            </a:r>
            <a:r>
              <a:rPr lang="en-US" sz="834" dirty="0">
                <a:solidFill>
                  <a:srgbClr val="37474F"/>
                </a:solidFill>
              </a:rPr>
              <a:t> das equipes de desenvolvimento, permitindo priorização inteligente de backlog.</a:t>
            </a:r>
            <a:endParaRPr lang="en-US" sz="834" dirty="0"/>
          </a:p>
        </p:txBody>
      </p:sp>
      <p:sp>
        <p:nvSpPr>
          <p:cNvPr id="13" name="Shape 10"/>
          <p:cNvSpPr/>
          <p:nvPr/>
        </p:nvSpPr>
        <p:spPr>
          <a:xfrm>
            <a:off x="571500" y="3943266"/>
            <a:ext cx="3786188" cy="897936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Shape 11"/>
          <p:cNvSpPr/>
          <p:nvPr/>
        </p:nvSpPr>
        <p:spPr>
          <a:xfrm>
            <a:off x="571500" y="3943266"/>
            <a:ext cx="28575" cy="897936"/>
          </a:xfrm>
          <a:prstGeom prst="rect">
            <a:avLst/>
          </a:prstGeom>
          <a:solidFill>
            <a:srgbClr val="00897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2"/>
          <p:cNvSpPr/>
          <p:nvPr/>
        </p:nvSpPr>
        <p:spPr>
          <a:xfrm>
            <a:off x="714375" y="4086141"/>
            <a:ext cx="350043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A237E"/>
                </a:solidFill>
              </a:rPr>
              <a:t>🌉 A API como Ponte</a:t>
            </a:r>
            <a:endParaRPr lang="en-US" sz="885" dirty="0"/>
          </a:p>
        </p:txBody>
      </p:sp>
      <p:sp>
        <p:nvSpPr>
          <p:cNvPr id="16" name="Text 13"/>
          <p:cNvSpPr/>
          <p:nvPr/>
        </p:nvSpPr>
        <p:spPr>
          <a:xfrm>
            <a:off x="714375" y="4332601"/>
            <a:ext cx="3500438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37474F"/>
                </a:solidFill>
              </a:rPr>
              <a:t>Conecta o </a:t>
            </a:r>
            <a:r>
              <a:rPr lang="en-US" sz="784" b="1" dirty="0">
                <a:solidFill>
                  <a:srgbClr val="F57C00"/>
                </a:solidFill>
              </a:rPr>
              <a:t>Big Data textual à decisão de negócio</a:t>
            </a:r>
            <a:r>
              <a:rPr lang="en-US" sz="834" dirty="0">
                <a:solidFill>
                  <a:srgbClr val="37474F"/>
                </a:solidFill>
              </a:rPr>
              <a:t>, viabilizando a priorização e gestão de deploy.</a:t>
            </a:r>
            <a:endParaRPr lang="en-US" sz="834" dirty="0"/>
          </a:p>
        </p:txBody>
      </p:sp>
      <p:sp>
        <p:nvSpPr>
          <p:cNvPr id="17" name="Text 14"/>
          <p:cNvSpPr/>
          <p:nvPr/>
        </p:nvSpPr>
        <p:spPr>
          <a:xfrm>
            <a:off x="4786313" y="1607344"/>
            <a:ext cx="3786188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A237E"/>
                </a:solidFill>
              </a:rPr>
              <a:t>📅 Cronograma de Implementação</a:t>
            </a:r>
            <a:endParaRPr lang="en-US" sz="987" dirty="0"/>
          </a:p>
        </p:txBody>
      </p:sp>
      <p:sp>
        <p:nvSpPr>
          <p:cNvPr id="18" name="Shape 15"/>
          <p:cNvSpPr/>
          <p:nvPr/>
        </p:nvSpPr>
        <p:spPr>
          <a:xfrm>
            <a:off x="4786313" y="2087761"/>
            <a:ext cx="357188" cy="357188"/>
          </a:xfrm>
          <a:prstGeom prst="ellipse">
            <a:avLst/>
          </a:prstGeom>
          <a:solidFill>
            <a:srgbClr val="F57C0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Text 16"/>
          <p:cNvSpPr/>
          <p:nvPr/>
        </p:nvSpPr>
        <p:spPr>
          <a:xfrm>
            <a:off x="4786313" y="2087761"/>
            <a:ext cx="357188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1</a:t>
            </a:r>
            <a:endParaRPr lang="en-US" sz="885" dirty="0"/>
          </a:p>
        </p:txBody>
      </p:sp>
      <p:sp>
        <p:nvSpPr>
          <p:cNvPr id="20" name="Text 17"/>
          <p:cNvSpPr/>
          <p:nvPr/>
        </p:nvSpPr>
        <p:spPr>
          <a:xfrm>
            <a:off x="5286375" y="2087761"/>
            <a:ext cx="328612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0897B"/>
                </a:solidFill>
              </a:rPr>
              <a:t>Mês 1</a:t>
            </a:r>
            <a:endParaRPr lang="en-US" sz="683" dirty="0"/>
          </a:p>
        </p:txBody>
      </p:sp>
      <p:sp>
        <p:nvSpPr>
          <p:cNvPr id="21" name="Text 18"/>
          <p:cNvSpPr/>
          <p:nvPr/>
        </p:nvSpPr>
        <p:spPr>
          <a:xfrm>
            <a:off x="5286375" y="2259211"/>
            <a:ext cx="3286125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80" dirty="0">
                <a:solidFill>
                  <a:srgbClr val="37474F"/>
                </a:solidFill>
              </a:rPr>
              <a:t>Coleta e Preparação de Dados</a:t>
            </a:r>
            <a:endParaRPr lang="en-US" sz="780" dirty="0"/>
          </a:p>
        </p:txBody>
      </p:sp>
      <p:sp>
        <p:nvSpPr>
          <p:cNvPr id="22" name="Shape 19"/>
          <p:cNvSpPr/>
          <p:nvPr/>
        </p:nvSpPr>
        <p:spPr>
          <a:xfrm>
            <a:off x="4786313" y="2730698"/>
            <a:ext cx="357188" cy="357188"/>
          </a:xfrm>
          <a:prstGeom prst="ellipse">
            <a:avLst/>
          </a:prstGeom>
          <a:solidFill>
            <a:srgbClr val="F57C0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3" name="Text 20"/>
          <p:cNvSpPr/>
          <p:nvPr/>
        </p:nvSpPr>
        <p:spPr>
          <a:xfrm>
            <a:off x="4786313" y="2730698"/>
            <a:ext cx="357188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2</a:t>
            </a:r>
            <a:endParaRPr lang="en-US" sz="885" dirty="0"/>
          </a:p>
        </p:txBody>
      </p:sp>
      <p:sp>
        <p:nvSpPr>
          <p:cNvPr id="24" name="Text 21"/>
          <p:cNvSpPr/>
          <p:nvPr/>
        </p:nvSpPr>
        <p:spPr>
          <a:xfrm>
            <a:off x="5286375" y="2730698"/>
            <a:ext cx="328612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0897B"/>
                </a:solidFill>
              </a:rPr>
              <a:t>Mês 2-3</a:t>
            </a:r>
            <a:endParaRPr lang="en-US" sz="683" dirty="0"/>
          </a:p>
        </p:txBody>
      </p:sp>
      <p:sp>
        <p:nvSpPr>
          <p:cNvPr id="25" name="Text 22"/>
          <p:cNvSpPr/>
          <p:nvPr/>
        </p:nvSpPr>
        <p:spPr>
          <a:xfrm>
            <a:off x="5286375" y="2902148"/>
            <a:ext cx="3286125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80" dirty="0">
                <a:solidFill>
                  <a:srgbClr val="37474F"/>
                </a:solidFill>
              </a:rPr>
              <a:t>Treinamento e Validação do Modelo</a:t>
            </a:r>
            <a:endParaRPr lang="en-US" sz="780" dirty="0"/>
          </a:p>
        </p:txBody>
      </p:sp>
      <p:sp>
        <p:nvSpPr>
          <p:cNvPr id="26" name="Shape 23"/>
          <p:cNvSpPr/>
          <p:nvPr/>
        </p:nvSpPr>
        <p:spPr>
          <a:xfrm>
            <a:off x="4786313" y="3373636"/>
            <a:ext cx="357188" cy="357188"/>
          </a:xfrm>
          <a:prstGeom prst="ellipse">
            <a:avLst/>
          </a:prstGeom>
          <a:solidFill>
            <a:srgbClr val="F57C0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7" name="Text 24"/>
          <p:cNvSpPr/>
          <p:nvPr/>
        </p:nvSpPr>
        <p:spPr>
          <a:xfrm>
            <a:off x="4786313" y="3373636"/>
            <a:ext cx="357188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3</a:t>
            </a:r>
            <a:endParaRPr lang="en-US" sz="885" dirty="0"/>
          </a:p>
        </p:txBody>
      </p:sp>
      <p:sp>
        <p:nvSpPr>
          <p:cNvPr id="28" name="Text 25"/>
          <p:cNvSpPr/>
          <p:nvPr/>
        </p:nvSpPr>
        <p:spPr>
          <a:xfrm>
            <a:off x="5286375" y="3373636"/>
            <a:ext cx="328612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0897B"/>
                </a:solidFill>
              </a:rPr>
              <a:t>Mês 4</a:t>
            </a:r>
            <a:endParaRPr lang="en-US" sz="683" dirty="0"/>
          </a:p>
        </p:txBody>
      </p:sp>
      <p:sp>
        <p:nvSpPr>
          <p:cNvPr id="29" name="Text 26"/>
          <p:cNvSpPr/>
          <p:nvPr/>
        </p:nvSpPr>
        <p:spPr>
          <a:xfrm>
            <a:off x="5286375" y="3545086"/>
            <a:ext cx="3286125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80" dirty="0">
                <a:solidFill>
                  <a:srgbClr val="37474F"/>
                </a:solidFill>
              </a:rPr>
              <a:t>Desenvolvimento e Integração da API</a:t>
            </a:r>
            <a:endParaRPr lang="en-US" sz="780" dirty="0"/>
          </a:p>
        </p:txBody>
      </p:sp>
      <p:sp>
        <p:nvSpPr>
          <p:cNvPr id="30" name="Shape 27"/>
          <p:cNvSpPr/>
          <p:nvPr/>
        </p:nvSpPr>
        <p:spPr>
          <a:xfrm>
            <a:off x="4786313" y="4016573"/>
            <a:ext cx="357188" cy="357188"/>
          </a:xfrm>
          <a:prstGeom prst="ellipse">
            <a:avLst/>
          </a:prstGeom>
          <a:solidFill>
            <a:srgbClr val="F57C0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1" name="Text 28"/>
          <p:cNvSpPr/>
          <p:nvPr/>
        </p:nvSpPr>
        <p:spPr>
          <a:xfrm>
            <a:off x="4786313" y="4016573"/>
            <a:ext cx="357188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4</a:t>
            </a:r>
            <a:endParaRPr lang="en-US" sz="885" dirty="0"/>
          </a:p>
        </p:txBody>
      </p:sp>
      <p:sp>
        <p:nvSpPr>
          <p:cNvPr id="32" name="Text 29"/>
          <p:cNvSpPr/>
          <p:nvPr/>
        </p:nvSpPr>
        <p:spPr>
          <a:xfrm>
            <a:off x="5286375" y="4016573"/>
            <a:ext cx="328612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0897B"/>
                </a:solidFill>
              </a:rPr>
              <a:t>Mês 5-6</a:t>
            </a:r>
            <a:endParaRPr lang="en-US" sz="683" dirty="0"/>
          </a:p>
        </p:txBody>
      </p:sp>
      <p:sp>
        <p:nvSpPr>
          <p:cNvPr id="33" name="Text 30"/>
          <p:cNvSpPr/>
          <p:nvPr/>
        </p:nvSpPr>
        <p:spPr>
          <a:xfrm>
            <a:off x="5286375" y="4188023"/>
            <a:ext cx="3286125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80" dirty="0">
                <a:solidFill>
                  <a:srgbClr val="37474F"/>
                </a:solidFill>
              </a:rPr>
              <a:t>Entrega Final do TCC</a:t>
            </a:r>
            <a:endParaRPr lang="en-US" sz="7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23776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542925"/>
            <a:ext cx="8572500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A237E"/>
                </a:solidFill>
              </a:rPr>
              <a:t>Perguntas e Respostas</a:t>
            </a:r>
            <a:endParaRPr lang="en-US" sz="2436" dirty="0"/>
          </a:p>
        </p:txBody>
      </p:sp>
      <p:sp>
        <p:nvSpPr>
          <p:cNvPr id="4" name="Text 1"/>
          <p:cNvSpPr/>
          <p:nvPr/>
        </p:nvSpPr>
        <p:spPr>
          <a:xfrm>
            <a:off x="571500" y="1080492"/>
            <a:ext cx="8572500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00897B"/>
                </a:solidFill>
              </a:rPr>
              <a:t>Discussão e Próximos Passos</a:t>
            </a:r>
            <a:endParaRPr lang="en-US" sz="1397" dirty="0"/>
          </a:p>
        </p:txBody>
      </p:sp>
      <p:sp>
        <p:nvSpPr>
          <p:cNvPr id="5" name="Text 2"/>
          <p:cNvSpPr/>
          <p:nvPr/>
        </p:nvSpPr>
        <p:spPr>
          <a:xfrm>
            <a:off x="1714500" y="1610916"/>
            <a:ext cx="5715000" cy="7786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5400"/>
              </a:lnSpc>
              <a:buNone/>
            </a:pPr>
            <a:r>
              <a:rPr lang="en-US" sz="4410" dirty="0">
                <a:solidFill>
                  <a:srgbClr val="000000"/>
                </a:solidFill>
              </a:rPr>
              <a:t>💬</a:t>
            </a:r>
            <a:endParaRPr lang="en-US" sz="4410" dirty="0"/>
          </a:p>
        </p:txBody>
      </p:sp>
      <p:sp>
        <p:nvSpPr>
          <p:cNvPr id="6" name="Text 3"/>
          <p:cNvSpPr/>
          <p:nvPr/>
        </p:nvSpPr>
        <p:spPr>
          <a:xfrm>
            <a:off x="1714500" y="2503884"/>
            <a:ext cx="5715000" cy="3500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1A237E"/>
                </a:solidFill>
              </a:rPr>
              <a:t>Vamos Conversar!</a:t>
            </a:r>
            <a:endParaRPr lang="en-US" sz="1808" dirty="0"/>
          </a:p>
        </p:txBody>
      </p:sp>
      <p:sp>
        <p:nvSpPr>
          <p:cNvPr id="7" name="Text 4"/>
          <p:cNvSpPr/>
          <p:nvPr/>
        </p:nvSpPr>
        <p:spPr>
          <a:xfrm>
            <a:off x="1714500" y="2939653"/>
            <a:ext cx="571500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050" dirty="0">
                <a:solidFill>
                  <a:srgbClr val="37474F"/>
                </a:solidFill>
              </a:rPr>
              <a:t>Obrigada por acompanhar esta jornada através do modelo CRISP-DM.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1714500" y="3311128"/>
            <a:ext cx="57150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050" dirty="0">
                <a:solidFill>
                  <a:srgbClr val="37474F"/>
                </a:solidFill>
              </a:rPr>
              <a:t>Suas perguntas, comentários e sugestões são fundamentais para refinar e aprimorar esta solução.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1714500" y="3939778"/>
            <a:ext cx="5715000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57C00"/>
                </a:solidFill>
              </a:rPr>
              <a:t>Qual é a sua pergunta?</a:t>
            </a:r>
            <a:endParaRPr lang="en-US" sz="1193" dirty="0"/>
          </a:p>
        </p:txBody>
      </p:sp>
      <p:sp>
        <p:nvSpPr>
          <p:cNvPr id="10" name="Shape 7"/>
          <p:cNvSpPr/>
          <p:nvPr/>
        </p:nvSpPr>
        <p:spPr>
          <a:xfrm>
            <a:off x="0" y="4173736"/>
            <a:ext cx="9144000" cy="106402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Shape 8"/>
          <p:cNvSpPr/>
          <p:nvPr/>
        </p:nvSpPr>
        <p:spPr>
          <a:xfrm>
            <a:off x="0" y="4173736"/>
            <a:ext cx="9144000" cy="14288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9"/>
          <p:cNvSpPr/>
          <p:nvPr/>
        </p:nvSpPr>
        <p:spPr>
          <a:xfrm>
            <a:off x="571500" y="4345186"/>
            <a:ext cx="2476481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A237E"/>
                </a:solidFill>
              </a:rPr>
              <a:t>📧 Contato</a:t>
            </a:r>
            <a:endParaRPr lang="en-US" sz="784" dirty="0"/>
          </a:p>
        </p:txBody>
      </p:sp>
      <p:sp>
        <p:nvSpPr>
          <p:cNvPr id="13" name="Text 10"/>
          <p:cNvSpPr/>
          <p:nvPr/>
        </p:nvSpPr>
        <p:spPr>
          <a:xfrm>
            <a:off x="571500" y="4572000"/>
            <a:ext cx="2476481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00897B"/>
                </a:solidFill>
              </a:rPr>
              <a:t>Simone Rossetti Nobre Naxara</a:t>
            </a:r>
            <a:r>
              <a:rPr lang="en-US" sz="727" dirty="0">
                <a:solidFill>
                  <a:srgbClr val="37474F"/>
                </a:solidFill>
              </a:rPr>
              <a:t>
 Pesquisadora | Data Science &amp; Analytics</a:t>
            </a:r>
            <a:endParaRPr lang="en-US" sz="683" dirty="0"/>
          </a:p>
        </p:txBody>
      </p:sp>
      <p:sp>
        <p:nvSpPr>
          <p:cNvPr id="14" name="Text 11"/>
          <p:cNvSpPr/>
          <p:nvPr/>
        </p:nvSpPr>
        <p:spPr>
          <a:xfrm>
            <a:off x="3333731" y="4345186"/>
            <a:ext cx="2476509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A237E"/>
                </a:solidFill>
              </a:rPr>
              <a:t>🎯 Próximos Passos</a:t>
            </a:r>
            <a:endParaRPr lang="en-US" sz="784" dirty="0"/>
          </a:p>
        </p:txBody>
      </p:sp>
      <p:sp>
        <p:nvSpPr>
          <p:cNvPr id="15" name="Text 12"/>
          <p:cNvSpPr/>
          <p:nvPr/>
        </p:nvSpPr>
        <p:spPr>
          <a:xfrm>
            <a:off x="3333731" y="4572000"/>
            <a:ext cx="2476509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27" dirty="0">
                <a:solidFill>
                  <a:srgbClr val="37474F"/>
                </a:solidFill>
              </a:rPr>
              <a:t>1. Aprovação do Projeto de Pesquisa
 2. Coleta de Dados
 3. Desenvolvimento da API</a:t>
            </a:r>
            <a:endParaRPr lang="en-US" sz="727" dirty="0"/>
          </a:p>
        </p:txBody>
      </p:sp>
      <p:sp>
        <p:nvSpPr>
          <p:cNvPr id="16" name="Text 13"/>
          <p:cNvSpPr/>
          <p:nvPr/>
        </p:nvSpPr>
        <p:spPr>
          <a:xfrm>
            <a:off x="6095991" y="4345186"/>
            <a:ext cx="2476481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A237E"/>
                </a:solidFill>
              </a:rPr>
              <a:t>🔗 Integração</a:t>
            </a:r>
            <a:endParaRPr lang="en-US" sz="784" dirty="0"/>
          </a:p>
        </p:txBody>
      </p:sp>
      <p:sp>
        <p:nvSpPr>
          <p:cNvPr id="17" name="Text 14"/>
          <p:cNvSpPr/>
          <p:nvPr/>
        </p:nvSpPr>
        <p:spPr>
          <a:xfrm>
            <a:off x="6095991" y="4572000"/>
            <a:ext cx="2476481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27" dirty="0">
                <a:solidFill>
                  <a:srgbClr val="37474F"/>
                </a:solidFill>
              </a:rPr>
              <a:t>Jira | Azure DevOps | KnoolyIa
</a:t>
            </a:r>
            <a:r>
              <a:rPr lang="en-US" sz="683" b="1" dirty="0">
                <a:solidFill>
                  <a:srgbClr val="00897B"/>
                </a:solidFill>
              </a:rPr>
              <a:t>Transformando Feedback em Ação</a:t>
            </a:r>
            <a:endParaRPr lang="en-US" sz="727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82f8ba2e-e556-4931-b5c8-1c162999bc23}" enabled="1" method="Standard" siteId="{87543db4-df13-4f35-995f-057e7aa99437}" contentBits="2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1014</Words>
  <Application>Microsoft Office PowerPoint</Application>
  <PresentationFormat>Apresentação na tela (16:9)</PresentationFormat>
  <Paragraphs>158</Paragraphs>
  <Slides>9</Slides>
  <Notes>9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3" baseType="lpstr">
      <vt:lpstr>Aptos</vt:lpstr>
      <vt:lpstr>Arial</vt:lpstr>
      <vt:lpstr>Saira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Simone Rossetti Nobre Naxara</cp:lastModifiedBy>
  <cp:revision>1</cp:revision>
  <dcterms:created xsi:type="dcterms:W3CDTF">2025-12-01T16:14:28Z</dcterms:created>
  <dcterms:modified xsi:type="dcterms:W3CDTF">2025-12-02T18:26:38Z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Office Theme:3</vt:lpwstr>
  </property>
  <property fmtid="{D5CDD505-2E9C-101B-9397-08002B2CF9AE}" pid="3" name="ClassificationContentMarkingFooterText">
    <vt:lpwstr>Conteúdo Interno</vt:lpwstr>
  </property>
</Properties>
</file>