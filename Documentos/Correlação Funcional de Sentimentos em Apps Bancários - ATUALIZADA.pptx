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246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Rossetti Nobre Naxara" userId="67d42903-0d21-4142-a31c-e4f4964febdf" providerId="ADAL" clId="{81C80555-BB0A-45D5-A9A5-3F4AD58D9791}"/>
    <pc:docChg chg="custSel mod modSld modMainMaster">
      <pc:chgData name="Simone Rossetti Nobre Naxara" userId="67d42903-0d21-4142-a31c-e4f4964febdf" providerId="ADAL" clId="{81C80555-BB0A-45D5-A9A5-3F4AD58D9791}" dt="2025-12-02T18:26:37.901" v="4" actId="255"/>
      <pc:docMkLst>
        <pc:docMk/>
      </pc:docMkLst>
      <pc:sldChg chg="delSp modSp mod">
        <pc:chgData name="Simone Rossetti Nobre Naxara" userId="67d42903-0d21-4142-a31c-e4f4964febdf" providerId="ADAL" clId="{81C80555-BB0A-45D5-A9A5-3F4AD58D9791}" dt="2025-12-02T18:26:37.901" v="4" actId="255"/>
        <pc:sldMkLst>
          <pc:docMk/>
          <pc:sldMk cId="0" sldId="261"/>
        </pc:sldMkLst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imone Rossetti Nobre Naxara" userId="67d42903-0d21-4142-a31c-e4f4964febdf" providerId="ADAL" clId="{81C80555-BB0A-45D5-A9A5-3F4AD58D9791}" dt="2025-12-02T18:26:37.901" v="4" actId="255"/>
          <ac:spMkLst>
            <pc:docMk/>
            <pc:sldMk cId="0" sldId="261"/>
            <ac:spMk id="29" creationId="{00000000-0000-0000-0000-000000000000}"/>
          </ac:spMkLst>
        </pc:spChg>
        <pc:picChg chg="del">
          <ac:chgData name="Simone Rossetti Nobre Naxara" userId="67d42903-0d21-4142-a31c-e4f4964febdf" providerId="ADAL" clId="{81C80555-BB0A-45D5-A9A5-3F4AD58D9791}" dt="2025-12-02T18:26:18.331" v="0" actId="478"/>
          <ac:picMkLst>
            <pc:docMk/>
            <pc:sldMk cId="0" sldId="261"/>
            <ac:picMk id="2" creationId="{00000000-0000-0000-0000-000000000000}"/>
          </ac:picMkLst>
        </pc:picChg>
      </pc:sldChg>
      <pc:sldMasterChg chg="addSp mod">
        <pc:chgData name="Simone Rossetti Nobre Naxara" userId="67d42903-0d21-4142-a31c-e4f4964febdf" providerId="ADAL" clId="{81C80555-BB0A-45D5-A9A5-3F4AD58D9791}" dt="2025-12-02T18:26:29.043" v="1" actId="33475"/>
        <pc:sldMasterMkLst>
          <pc:docMk/>
          <pc:sldMasterMk cId="0" sldId="2147483648"/>
        </pc:sldMasterMkLst>
        <pc:spChg chg="add">
          <ac:chgData name="Simone Rossetti Nobre Naxara" userId="67d42903-0d21-4142-a31c-e4f4964febdf" providerId="ADAL" clId="{81C80555-BB0A-45D5-A9A5-3F4AD58D9791}" dt="2025-12-02T18:26:29.043" v="1" actId="33475"/>
          <ac:spMkLst>
            <pc:docMk/>
            <pc:sldMasterMk cId="0" sldId="2147483648"/>
            <ac:spMk id="3" creationId="{4EC505AB-FBF8-31B4-F8D2-67754F31DFF2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341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EC505AB-FBF8-31B4-F8D2-67754F31DFF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9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Conteúdo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77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14388"/>
            <a:ext cx="4000500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37E"/>
                </a:solidFill>
              </a:rPr>
              <a:t>Correlação Funcional de Sentimentos em Apps Bancários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366046"/>
            <a:ext cx="400050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897B"/>
                </a:solidFill>
              </a:rPr>
              <a:t>API para Priorização de Backlog e Deploy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4348311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Uma Abordagem Estruturada com o Modelo CRISP-DM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5043041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Apresentador: Simone Rossetti Nobre Naxara</a:t>
            </a:r>
            <a:endParaRPr lang="en-US" sz="98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8" y="1761604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Entendimento do Negócio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Business Understanding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535906"/>
            <a:ext cx="428625" cy="428625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71500" y="153590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📊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571500" y="2107406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O Problema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71500" y="2484239"/>
            <a:ext cx="24764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Alto volume de avaliações negativas impactando a reputação e satisfação do cliente.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3247141"/>
            <a:ext cx="2476481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71500" y="3247141"/>
            <a:ext cx="28575" cy="36968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71500" y="3247141"/>
            <a:ext cx="2476481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72.76% das críticas são negativas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571500" y="3866862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Reclamações recorrentes: 'não funciona', 'problema com', 'não abre', 'app trava', 'muito lento'.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3333731" y="1535906"/>
            <a:ext cx="428625" cy="428625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333731" y="153590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🎯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3333731" y="2107406"/>
            <a:ext cx="24765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O Objetivo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3333731" y="2484239"/>
            <a:ext cx="247650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Converter o feedback textual não estruturado em um backlog de desenvolvimento priorizado e acionável.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3333731" y="3247141"/>
            <a:ext cx="2476509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333731" y="3247141"/>
            <a:ext cx="28575" cy="36968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333731" y="3247141"/>
            <a:ext cx="2476509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Redução do tempo de resposta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3333731" y="3866862"/>
            <a:ext cx="247650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Suporte à decisão de deploy e prevenção de regressões.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6095991" y="1535906"/>
            <a:ext cx="428625" cy="428625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095991" y="153590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✓</a:t>
            </a:r>
            <a:endParaRPr lang="en-US" sz="1602" dirty="0"/>
          </a:p>
        </p:txBody>
      </p:sp>
      <p:sp>
        <p:nvSpPr>
          <p:cNvPr id="23" name="Text 20"/>
          <p:cNvSpPr/>
          <p:nvPr/>
        </p:nvSpPr>
        <p:spPr>
          <a:xfrm>
            <a:off x="6095991" y="2107406"/>
            <a:ext cx="2476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Critérios de Sucesso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6095991" y="2484239"/>
            <a:ext cx="24764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Desenvolvimento de uma API funcional com alta acurácia e integração com ferramentas de gestão.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6095991" y="3247141"/>
            <a:ext cx="2476481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6095991" y="3247141"/>
            <a:ext cx="28575" cy="36968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095991" y="3247141"/>
            <a:ext cx="2476481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Acurácia F1-Score &gt; 80%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6095991" y="3866862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Integração com Jira/AzureDevOps para priorização automática de backlog.</a:t>
            </a:r>
            <a:endParaRPr lang="en-US" sz="727" dirty="0"/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✓ Dataset Validado: 1000 avaliações classificadas manualmente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Entendimento dos Dados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Data Understanding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98290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📱 Fonte de Dados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764395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Avaliações e comentários de usuários de aplicativos bancários (Bradesco e Santander) nas lojas Play Store e Apple Store.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344434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📊 Natureza dos Dados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610538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Dados textuais não estruturados (Big Data textual) com volume massivo de comentários e avaliações.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3190577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🔍 Análise Inicial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345668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Reclamações recorrentes: 'não funciona', 'problema com', 'não abre', 'app trava', 'muito lento'.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71500" y="3893846"/>
            <a:ext cx="3786188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71500" y="3893846"/>
            <a:ext cx="28575" cy="369689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71500" y="3893846"/>
            <a:ext cx="378618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7C00"/>
                </a:solidFill>
              </a:rPr>
              <a:t>72.76% das críticas são Negativas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71500" y="4477848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⚠️ Desafio Principal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71500" y="4743952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Correlacionar o sentimento com funcionalidades específicas (PIX, Login, Pagamentos) para ação estratégica.</a:t>
            </a:r>
            <a:endParaRPr lang="en-US" sz="834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875234"/>
            <a:ext cx="3786188" cy="2857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✓ 1000 avaliações classificadas manualmente por humanos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Preparação dos Dados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Data Preparation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4469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Etapas de Pré-processamento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71500" y="1802011"/>
            <a:ext cx="1635919" cy="775097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802011"/>
            <a:ext cx="1635919" cy="28575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14375" y="1959173"/>
            <a:ext cx="1350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14375" y="2264569"/>
            <a:ext cx="1350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Limpeza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2350294" y="2044898"/>
            <a:ext cx="2000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→</a:t>
            </a:r>
            <a:endParaRPr lang="en-US" sz="1397" dirty="0"/>
          </a:p>
        </p:txBody>
      </p:sp>
      <p:sp>
        <p:nvSpPr>
          <p:cNvPr id="11" name="Shape 8"/>
          <p:cNvSpPr/>
          <p:nvPr/>
        </p:nvSpPr>
        <p:spPr>
          <a:xfrm>
            <a:off x="2693194" y="1802011"/>
            <a:ext cx="1635919" cy="775097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2693194" y="1802011"/>
            <a:ext cx="1635919" cy="28575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2836069" y="1959173"/>
            <a:ext cx="1350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2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2836069" y="2264569"/>
            <a:ext cx="1350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Normalização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471988" y="2044898"/>
            <a:ext cx="2000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→</a:t>
            </a:r>
            <a:endParaRPr lang="en-US" sz="1397" dirty="0"/>
          </a:p>
        </p:txBody>
      </p:sp>
      <p:sp>
        <p:nvSpPr>
          <p:cNvPr id="16" name="Shape 13"/>
          <p:cNvSpPr/>
          <p:nvPr/>
        </p:nvSpPr>
        <p:spPr>
          <a:xfrm>
            <a:off x="4814888" y="1802011"/>
            <a:ext cx="1635919" cy="775097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814888" y="1802011"/>
            <a:ext cx="1635919" cy="28575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957763" y="1959173"/>
            <a:ext cx="1350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3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957763" y="2264569"/>
            <a:ext cx="1350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Tokenização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593681" y="2044898"/>
            <a:ext cx="2000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→</a:t>
            </a:r>
            <a:endParaRPr lang="en-US" sz="1397" dirty="0"/>
          </a:p>
        </p:txBody>
      </p:sp>
      <p:sp>
        <p:nvSpPr>
          <p:cNvPr id="21" name="Shape 18"/>
          <p:cNvSpPr/>
          <p:nvPr/>
        </p:nvSpPr>
        <p:spPr>
          <a:xfrm>
            <a:off x="6936581" y="1802011"/>
            <a:ext cx="1635919" cy="775097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6936581" y="1802011"/>
            <a:ext cx="1635919" cy="28575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079456" y="1944886"/>
            <a:ext cx="13501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4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7079456" y="2250281"/>
            <a:ext cx="1350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Lematização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571500" y="2655689"/>
            <a:ext cx="800100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Detalhes:</a:t>
            </a:r>
            <a:r>
              <a:rPr lang="en-US" sz="727" dirty="0">
                <a:solidFill>
                  <a:srgbClr val="37474F"/>
                </a:solidFill>
              </a:rPr>
              <a:t> Remoção de caracteres especiais, emojis e stop words → Conversão para minúsculas e padronização → Divisão em tokens → Redução a forma canônica das palavras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71500" y="3221831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Feature Engineering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571500" y="3595092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Conversão de texto em vetores numéricos para processamento por algoritmos: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571500" y="3909417"/>
            <a:ext cx="3857625" cy="44291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571500" y="3909417"/>
            <a:ext cx="28575" cy="44291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571500" y="3909417"/>
            <a:ext cx="3857625" cy="4429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TF-IDF
</a:t>
            </a:r>
            <a:r>
              <a:rPr lang="en-US" sz="621" dirty="0">
                <a:solidFill>
                  <a:srgbClr val="37474F"/>
                </a:solidFill>
              </a:rPr>
              <a:t>Term Frequency-Inverse Document Frequency para identificar palavras-chave relevantes</a:t>
            </a:r>
            <a:endParaRPr lang="en-US" sz="683" dirty="0"/>
          </a:p>
        </p:txBody>
      </p:sp>
      <p:sp>
        <p:nvSpPr>
          <p:cNvPr id="31" name="Shape 28"/>
          <p:cNvSpPr/>
          <p:nvPr/>
        </p:nvSpPr>
        <p:spPr>
          <a:xfrm>
            <a:off x="571500" y="4459486"/>
            <a:ext cx="3857625" cy="44291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571500" y="4459486"/>
            <a:ext cx="28575" cy="44291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571500" y="4459486"/>
            <a:ext cx="3857625" cy="4429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Word Embeddings
</a:t>
            </a:r>
            <a:r>
              <a:rPr lang="en-US" sz="621" dirty="0">
                <a:solidFill>
                  <a:srgbClr val="37474F"/>
                </a:solidFill>
              </a:rPr>
              <a:t>Representação densa de palavras capturando semântica e contexto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4714875" y="3221831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Estrutura do Dataset</a:t>
            </a:r>
            <a:endParaRPr lang="en-US" sz="987" dirty="0"/>
          </a:p>
        </p:txBody>
      </p:sp>
      <p:sp>
        <p:nvSpPr>
          <p:cNvPr id="35" name="Shape 32"/>
          <p:cNvSpPr/>
          <p:nvPr/>
        </p:nvSpPr>
        <p:spPr>
          <a:xfrm>
            <a:off x="4714875" y="3595092"/>
            <a:ext cx="3857625" cy="374321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4714875" y="3595092"/>
            <a:ext cx="28575" cy="374321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4714875" y="3595092"/>
            <a:ext cx="3857625" cy="37432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Volume:</a:t>
            </a:r>
            <a:r>
              <a:rPr lang="en-US" sz="727" dirty="0">
                <a:solidFill>
                  <a:srgbClr val="37474F"/>
                </a:solidFill>
              </a:rPr>
              <a:t> Meta de mais de 10.000 comentários para treinamento e validação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4714875" y="4076570"/>
            <a:ext cx="3857625" cy="53433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4714875" y="4076570"/>
            <a:ext cx="28575" cy="53433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4714875" y="4076570"/>
            <a:ext cx="3857625" cy="5343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Rotulagem:</a:t>
            </a:r>
            <a:r>
              <a:rPr lang="en-US" sz="727" dirty="0">
                <a:solidFill>
                  <a:srgbClr val="37474F"/>
                </a:solidFill>
              </a:rPr>
              <a:t> Criação de rótulos de negócio (funcionalidades: PIX, Login, Pagamentos, etc.) para comentários negativos</a:t>
            </a:r>
            <a:endParaRPr lang="en-US" sz="683" dirty="0"/>
          </a:p>
        </p:txBody>
      </p:sp>
      <p:sp>
        <p:nvSpPr>
          <p:cNvPr id="41" name="Shape 38"/>
          <p:cNvSpPr/>
          <p:nvPr/>
        </p:nvSpPr>
        <p:spPr>
          <a:xfrm>
            <a:off x="4714875" y="4718056"/>
            <a:ext cx="3857625" cy="374321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4714875" y="4718056"/>
            <a:ext cx="28575" cy="374321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4714875" y="4718056"/>
            <a:ext cx="3857625" cy="37432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7474F"/>
                </a:solidFill>
              </a:rPr>
              <a:t>Objetivo:</a:t>
            </a:r>
            <a:r>
              <a:rPr lang="en-US" sz="727" dirty="0">
                <a:solidFill>
                  <a:srgbClr val="37474F"/>
                </a:solidFill>
              </a:rPr>
              <a:t> Permitir o treinamento do modelo de correlação funcional</a:t>
            </a:r>
            <a:endParaRPr lang="en-US" sz="683" dirty="0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16 categorias funcionais identificadas</a:t>
            </a:r>
            <a:br/>
            <a:r>
              <a:t>• Classificação múltipla (múltiplas categorias por avaliação)</a:t>
            </a:r>
            <a:br/>
            <a:r>
              <a:t>• 291 avaliações negativas com categorias funcionais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2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Modelagem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Modeling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4469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🧠 Abordagem Metodológica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730573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Classificação e Extração de Features via **Large Language Model (LLM)**.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167737"/>
            <a:ext cx="37861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Utilização de **Prompt Engineering** para mapear o sentimento para funcionalidades específicas (zero-shot learning).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747776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⚙️ Algoritmo Escolhido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013881"/>
            <a:ext cx="378618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**LLM (ex: GPT-4, Gemini, Llama)**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71500" y="3268182"/>
            <a:ext cx="3786188" cy="36968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71500" y="3268182"/>
            <a:ext cx="28575" cy="36968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71500" y="3268182"/>
            <a:ext cx="3786188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Flexibilidade e Extração de Features Complexas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3709308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Justificativa: Capacidade de **zero-shot learning** para categorizar funcionalidades sem treinamento prévio e extrair o **sentimento implícito**.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71500" y="4243639"/>
            <a:ext cx="3786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✓ Justificativa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71500" y="4522245"/>
            <a:ext cx="37861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 abordagem com LLM está alinhada com a Stack Técnica sugerida pelo gestor, focando em **categorização e extração** de features complexas do texto.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786313" y="1535906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📊 Pipeline de Processamento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4786313" y="1930598"/>
            <a:ext cx="3786188" cy="776883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786313" y="1930598"/>
            <a:ext cx="28575" cy="77688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929188" y="2073473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929188" y="207347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393531" y="2073473"/>
            <a:ext cx="30360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Triagem de Polaridade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393531" y="2264569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Modelo DistilBERT SA (Hugging Face) classifica o sentimento como Negativo, Neutro ou Positivo.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786313" y="2821781"/>
            <a:ext cx="3786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897B"/>
                </a:solidFill>
              </a:rPr>
              <a:t>↓</a:t>
            </a:r>
            <a:endParaRPr lang="en-US" sz="1193" dirty="0"/>
          </a:p>
        </p:txBody>
      </p:sp>
      <p:sp>
        <p:nvSpPr>
          <p:cNvPr id="24" name="Shape 21"/>
          <p:cNvSpPr/>
          <p:nvPr/>
        </p:nvSpPr>
        <p:spPr>
          <a:xfrm>
            <a:off x="4786313" y="3243263"/>
            <a:ext cx="3786188" cy="776883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786313" y="3243263"/>
            <a:ext cx="28575" cy="77688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929188" y="3386138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929188" y="338613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5393531" y="3386138"/>
            <a:ext cx="30360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Correlação Funcional via LLM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5393531" y="3577233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LLM (Prompt Engineering) categoriza o comentário para uma funcionalidade (Login, PIX, etc.) e extrai o sentimento implícito.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786313" y="4134445"/>
            <a:ext cx="3786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897B"/>
                </a:solidFill>
              </a:rPr>
              <a:t>↓</a:t>
            </a:r>
            <a:endParaRPr lang="en-US" sz="1193" dirty="0"/>
          </a:p>
        </p:txBody>
      </p:sp>
      <p:sp>
        <p:nvSpPr>
          <p:cNvPr id="31" name="Shape 28"/>
          <p:cNvSpPr/>
          <p:nvPr/>
        </p:nvSpPr>
        <p:spPr>
          <a:xfrm>
            <a:off x="4786313" y="4555927"/>
            <a:ext cx="3786188" cy="776883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786313" y="4555927"/>
            <a:ext cx="28575" cy="776883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4929188" y="4698802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4929188" y="4698802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35" name="Text 32"/>
          <p:cNvSpPr/>
          <p:nvPr/>
        </p:nvSpPr>
        <p:spPr>
          <a:xfrm>
            <a:off x="5393531" y="4698802"/>
            <a:ext cx="30360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Storage e Saída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5393531" y="4889897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Armazenamento estruturado (Sentimento + Funcionalidade + Volume) em Neo4j (Grafo) e PostgreSQL.</a:t>
            </a:r>
            <a:endParaRPr lang="en-US" sz="727" dirty="0"/>
          </a:p>
        </p:txBody>
      </p:sp>
      <p:sp>
        <p:nvSpPr>
          <p:cNvPr id="37" name="TextBox 36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📋 Método Detalhado:</a:t>
            </a:r>
            <a:br/>
            <a:br/>
            <a:r>
              <a:t>1. Análise de Sentimentos:</a:t>
            </a:r>
            <a:br/>
            <a:r>
              <a:t>   • Modelo: cardiffnlp/twitter-xlm-roberta-base-sentiment</a:t>
            </a:r>
            <a:br/>
            <a:r>
              <a:t>   • Framework: Hugging Face Transformers</a:t>
            </a:r>
            <a:br/>
            <a:r>
              <a:t>   • Parâmetros: Batch size 16, Temperature 0.3</a:t>
            </a:r>
            <a:br/>
            <a:br/>
            <a:r>
              <a:t>2. Correlação Funcional:</a:t>
            </a:r>
            <a:br/>
            <a:r>
              <a:t>   • Modelo: GPT-4o (OpenAI)</a:t>
            </a:r>
            <a:br/>
            <a:r>
              <a:t>   • Técnica: Prompt Engineering (zero-shot learning)</a:t>
            </a:r>
            <a:br/>
            <a:r>
              <a:t>   • Abordagem: Classificação múltipla</a:t>
            </a:r>
            <a:br/>
            <a:r>
              <a:t>   • Parâmetros: Max tokens 200, Temperature 0.3</a:t>
            </a:r>
            <a:br/>
            <a:br/>
            <a:r>
              <a:t>3. Taxonomia: 16 categorias funcionais</a:t>
            </a:r>
            <a:br/>
            <a:r>
              <a:t>   (PIX, Login/Autenticação, Performance, Interface/Usabilidade,</a:t>
            </a:r>
            <a:br/>
            <a:r>
              <a:t>    Empréstimos/Crédito, Pagamentos/Boletos, Saldo/Extrato,</a:t>
            </a:r>
            <a:br/>
            <a:r>
              <a:t>    Atendimento, Cadastro/Conta, Investimentos, Segurança,</a:t>
            </a:r>
            <a:br/>
            <a:r>
              <a:t>    Notificações, Questões geográficas, Placas/Veículos,</a:t>
            </a:r>
            <a:br/>
            <a:r>
              <a:t>    Tarifas/Cobranças, Outros)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Avaliação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Evaluation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4469"/>
            <a:ext cx="1417055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🎯 Foco Principal (LLM)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716286"/>
            <a:ext cx="3786188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Garantir a **qualidade da extração de features** e a **precisão da categorização funcional** do LLM.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167737"/>
            <a:ext cx="1506823" cy="1726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📊 Métricas de Validação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419555"/>
            <a:ext cx="3786188" cy="44827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71500" y="2419555"/>
            <a:ext cx="28575" cy="44827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2938" y="2490992"/>
            <a:ext cx="514564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Acurácia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2938" y="2660656"/>
            <a:ext cx="3464090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Medida geral de acerto do LLM na categorização funcional.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2910687"/>
            <a:ext cx="3786188" cy="44827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" y="2910687"/>
            <a:ext cx="28575" cy="44827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2938" y="2982125"/>
            <a:ext cx="512961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Precisão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2938" y="3151789"/>
            <a:ext cx="4523674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Proporção de categorias funcionais corretas entre as classificações positivas.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1500" y="3401820"/>
            <a:ext cx="3786188" cy="5840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" y="3401820"/>
            <a:ext cx="28575" cy="58400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2938" y="3473258"/>
            <a:ext cx="1123706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Revocação (Recall)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2938" y="3642922"/>
            <a:ext cx="3643313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Proporção de reclamações funcionais reais que foram corretamente identificadas.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71500" y="4028684"/>
            <a:ext cx="3786188" cy="5840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71500" y="4028684"/>
            <a:ext cx="28575" cy="58400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2938" y="4100122"/>
            <a:ext cx="509755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F1-Score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2938" y="4269786"/>
            <a:ext cx="3643313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Métrica principal: equilíbrio entre Precisão e Revocação na tarefa de correlação.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71500" y="4726986"/>
            <a:ext cx="3786188" cy="858645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571500" y="4726986"/>
            <a:ext cx="28575" cy="858645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42938" y="4798423"/>
            <a:ext cx="1457130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57C00"/>
                </a:solidFill>
                <a:latin typeface="Saira" pitchFamily="2" charset="0"/>
              </a:rPr>
              <a:t>✓ Resultados Esperados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42938" y="5034167"/>
            <a:ext cx="36433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Validação da eficácia do LLM na correlação e geração de um backlog priorizado que discrimina as funcionalidades com maior volume de sentimentos negativos.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4786313" y="1464469"/>
            <a:ext cx="1455527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🔍 Desafio da Avaliação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786313" y="1823442"/>
            <a:ext cx="3786188" cy="6431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00" b="1" dirty="0">
                <a:solidFill>
                  <a:srgbClr val="1A237E"/>
                </a:solidFill>
                <a:latin typeface="Saira" pitchFamily="2" charset="0"/>
              </a:rPr>
              <a:t>A avaliação do LLM exige a criação de um **dataset de teste rotulado por humanos** para validar a qualidade do *prompt engineering* e a capacidade de extração de *features* complexas.</a:t>
            </a:r>
            <a:endParaRPr lang="en-US" sz="1000" dirty="0">
              <a:latin typeface="Saira" pitchFamily="2" charset="0"/>
            </a:endParaRPr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2494955"/>
            <a:ext cx="3786188" cy="21431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✅ Validação com Base Humana:</a:t>
            </a:r>
            <a:br/>
            <a:br/>
            <a:r>
              <a:t>• Dataset: 1000 avaliações classificadas manualmente</a:t>
            </a:r>
            <a:br/>
            <a:r>
              <a:t>• Classificador: Carol (concluído)</a:t>
            </a:r>
            <a:br/>
            <a:r>
              <a:t>• Status: Aguardando segunda classificação</a:t>
            </a:r>
            <a:br/>
            <a:br/>
            <a:r>
              <a:t>📊 Métricas a Calcular:</a:t>
            </a:r>
            <a:br/>
            <a:r>
              <a:t>• Acurácia do modelo de sentimento (DistilBERT vs. Humano)</a:t>
            </a:r>
            <a:br/>
            <a:r>
              <a:t>• Acurácia da correlação funcional (GPT-4o vs. Humano)</a:t>
            </a:r>
            <a:br/>
            <a:r>
              <a:t>• Inter-Annotator Agreement (Cohen's Kappa)</a:t>
            </a:r>
            <a:br/>
            <a:br/>
            <a:r>
              <a:t>🎯 Resultados Esperados:</a:t>
            </a:r>
            <a:br/>
            <a:r>
              <a:t>• F1-Score &gt; 80% por categoria</a:t>
            </a:r>
            <a:br/>
            <a:r>
              <a:t>• Acurácia geral &gt; 85% em sentimentos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Implantação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Deployment - Integração e Ação Estratégica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4469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Fluxo de Integração da API de Correlação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71500" y="1802011"/>
            <a:ext cx="1614460" cy="980787"/>
          </a:xfrm>
          <a:prstGeom prst="rect">
            <a:avLst/>
          </a:prstGeom>
          <a:solidFill>
            <a:srgbClr val="F0F4F8"/>
          </a:solidFill>
          <a:ln w="18288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14375" y="1959173"/>
            <a:ext cx="130727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1️⃣ Entrada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14375" y="2205633"/>
            <a:ext cx="130727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API recebe novos comentários via webhook ou batch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2307403" y="2126298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897B"/>
                </a:solidFill>
              </a:rPr>
              <a:t>→</a:t>
            </a:r>
            <a:endParaRPr lang="en-US" sz="1602" dirty="0"/>
          </a:p>
        </p:txBody>
      </p:sp>
      <p:sp>
        <p:nvSpPr>
          <p:cNvPr id="10" name="Shape 7"/>
          <p:cNvSpPr/>
          <p:nvPr/>
        </p:nvSpPr>
        <p:spPr>
          <a:xfrm>
            <a:off x="2678906" y="1863765"/>
            <a:ext cx="1621603" cy="857250"/>
          </a:xfrm>
          <a:prstGeom prst="rect">
            <a:avLst/>
          </a:prstGeom>
          <a:solidFill>
            <a:srgbClr val="F0F4F8"/>
          </a:solidFill>
          <a:ln w="18288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2828925" y="2029160"/>
            <a:ext cx="13144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2️⃣ Processamento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2828925" y="2275619"/>
            <a:ext cx="131442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Pipeline: Polaridade + Correlação Funcional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429097" y="2126298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897B"/>
                </a:solidFill>
              </a:rPr>
              <a:t>→</a:t>
            </a:r>
            <a:endParaRPr lang="en-US" sz="1602" dirty="0"/>
          </a:p>
        </p:txBody>
      </p:sp>
      <p:sp>
        <p:nvSpPr>
          <p:cNvPr id="14" name="Shape 11"/>
          <p:cNvSpPr/>
          <p:nvPr/>
        </p:nvSpPr>
        <p:spPr>
          <a:xfrm>
            <a:off x="4800600" y="1802011"/>
            <a:ext cx="1628747" cy="980787"/>
          </a:xfrm>
          <a:prstGeom prst="rect">
            <a:avLst/>
          </a:prstGeom>
          <a:solidFill>
            <a:srgbClr val="F0F4F8"/>
          </a:solidFill>
          <a:ln w="18288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957763" y="1959173"/>
            <a:ext cx="13215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3️⃣ Saída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957763" y="2205633"/>
            <a:ext cx="1321566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JSON estruturado (Sentimento, Funcionalidade, Volume)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6565078" y="2126298"/>
            <a:ext cx="22862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897B"/>
                </a:solidFill>
              </a:rPr>
              <a:t>→</a:t>
            </a:r>
            <a:endParaRPr lang="en-US" sz="1602" dirty="0"/>
          </a:p>
        </p:txBody>
      </p:sp>
      <p:sp>
        <p:nvSpPr>
          <p:cNvPr id="18" name="Shape 15"/>
          <p:cNvSpPr/>
          <p:nvPr/>
        </p:nvSpPr>
        <p:spPr>
          <a:xfrm>
            <a:off x="6936581" y="1802011"/>
            <a:ext cx="1635891" cy="980787"/>
          </a:xfrm>
          <a:prstGeom prst="rect">
            <a:avLst/>
          </a:prstGeom>
          <a:solidFill>
            <a:srgbClr val="F0F4F8"/>
          </a:solidFill>
          <a:ln w="18288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100888" y="1944886"/>
            <a:ext cx="13287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4️⃣ Ação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7100888" y="2191345"/>
            <a:ext cx="132871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Ferramentas de gestão consomem dados para decisão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571500" y="3985878"/>
            <a:ext cx="3893344" cy="115762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71500" y="3985878"/>
            <a:ext cx="28575" cy="1157622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14375" y="4128753"/>
            <a:ext cx="3607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📋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714375" y="4434148"/>
            <a:ext cx="36075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Priorização de Backlog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714375" y="4680607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Criação automática de tickets para falhas críticas, ordenados por volume de reclamações e severidade do sentimento negativo.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4679156" y="3985878"/>
            <a:ext cx="3893344" cy="115762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679156" y="3985878"/>
            <a:ext cx="28575" cy="1157622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822031" y="4128753"/>
            <a:ext cx="36075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🚀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4822031" y="4434148"/>
            <a:ext cx="36075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Gestão de Deploy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4822031" y="4680607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Correlação de sentimentos negativos com versões do aplicativo, permitindo identificação imediata de regressões e decisão de rollback.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</a:rPr>
              <a:t>Transformando Feedback em Vantagem Competitiva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84052"/>
            <a:ext cx="8572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897B"/>
                </a:solidFill>
              </a:rPr>
              <a:t>Conclusão e Próximos Passos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607344"/>
            <a:ext cx="3786188" cy="108079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71500" y="1607344"/>
            <a:ext cx="28575" cy="1080799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14375" y="1750219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🔄 Ciclo de Melhoria Contínua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14375" y="1996678"/>
            <a:ext cx="35004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O projeto estabelece um ciclo virtuoso, transformando o </a:t>
            </a:r>
            <a:r>
              <a:rPr lang="en-US" sz="784" b="1" dirty="0">
                <a:solidFill>
                  <a:srgbClr val="F57C00"/>
                </a:solidFill>
              </a:rPr>
              <a:t>feedback do cliente</a:t>
            </a:r>
            <a:r>
              <a:rPr lang="en-US" sz="834" dirty="0">
                <a:solidFill>
                  <a:srgbClr val="37474F"/>
                </a:solidFill>
              </a:rPr>
              <a:t> em um ativo estratégico para decisões de desenvolvimento.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2866737"/>
            <a:ext cx="3786188" cy="89793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71500" y="2866737"/>
            <a:ext cx="28575" cy="89793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14375" y="3009612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🎯 A Correlação Funcional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14375" y="3256071"/>
            <a:ext cx="35004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É a </a:t>
            </a:r>
            <a:r>
              <a:rPr lang="en-US" sz="784" b="1" dirty="0">
                <a:solidFill>
                  <a:srgbClr val="F57C00"/>
                </a:solidFill>
              </a:rPr>
              <a:t>chave para atuação proativa</a:t>
            </a:r>
            <a:r>
              <a:rPr lang="en-US" sz="834" dirty="0">
                <a:solidFill>
                  <a:srgbClr val="37474F"/>
                </a:solidFill>
              </a:rPr>
              <a:t> das equipes de desenvolvimento, permitindo priorização inteligente de backlog.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3943266"/>
            <a:ext cx="3786188" cy="89793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71500" y="3943266"/>
            <a:ext cx="28575" cy="89793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14375" y="4086141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🌉 A API como Ponte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714375" y="4332601"/>
            <a:ext cx="35004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7474F"/>
                </a:solidFill>
              </a:rPr>
              <a:t>Conecta o </a:t>
            </a:r>
            <a:r>
              <a:rPr lang="en-US" sz="784" b="1" dirty="0">
                <a:solidFill>
                  <a:srgbClr val="F57C00"/>
                </a:solidFill>
              </a:rPr>
              <a:t>Big Data textual à decisão de negócio</a:t>
            </a:r>
            <a:r>
              <a:rPr lang="en-US" sz="834" dirty="0">
                <a:solidFill>
                  <a:srgbClr val="37474F"/>
                </a:solidFill>
              </a:rPr>
              <a:t>, viabilizando a priorização e gestão de deploy.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786313" y="1607344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37E"/>
                </a:solidFill>
              </a:rPr>
              <a:t>📅 Cronograma de Implementação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786313" y="2087761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786313" y="208776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286375" y="2087761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Mês 1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5286375" y="2259211"/>
            <a:ext cx="32861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Coleta e Preparação de Dados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786313" y="2730698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786313" y="273069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286375" y="2730698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Mês 2-3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286375" y="2902148"/>
            <a:ext cx="32861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Treinamento e Validação do Modelo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4786313" y="3373636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786313" y="337363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286375" y="3373636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Mês 4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5286375" y="3545086"/>
            <a:ext cx="32861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Desenvolvimento e Integração da API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4786313" y="4016573"/>
            <a:ext cx="357188" cy="357188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4786313" y="401657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5286375" y="4016573"/>
            <a:ext cx="3286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Mês 5-6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5286375" y="4188023"/>
            <a:ext cx="32861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7474F"/>
                </a:solidFill>
              </a:rPr>
              <a:t>Entrega Final do TCC</a:t>
            </a:r>
            <a:endParaRPr lang="en-US" sz="780" dirty="0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✅ Concluído:</a:t>
            </a:r>
            <a:br/>
            <a:r>
              <a:t>• Classificação manual de 1000 avaliações (Carol)</a:t>
            </a:r>
            <a:br/>
            <a:br/>
            <a:r>
              <a:t>🔄 Em Andamento:</a:t>
            </a:r>
            <a:br/>
            <a:r>
              <a:t>• Receber segunda classificação manual</a:t>
            </a:r>
            <a:br/>
            <a:r>
              <a:t>• Calcular inter-annotator agreement</a:t>
            </a:r>
            <a:br/>
            <a:r>
              <a:t>• Comparar modelo vs. classificação humana</a:t>
            </a:r>
            <a:br/>
            <a:br/>
            <a:r>
              <a:t>📅 Próximas Semanas:</a:t>
            </a:r>
            <a:br/>
            <a:r>
              <a:t>• Resolver discrepâncias entre classificadores</a:t>
            </a:r>
            <a:br/>
            <a:r>
              <a:t>• Ajustar prompts do LLM baseado em erros</a:t>
            </a:r>
            <a:br/>
            <a:r>
              <a:t>• Calcular métricas finais</a:t>
            </a:r>
            <a:br/>
            <a:r>
              <a:t>• Preparar dataset para treino/fine-tuning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77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292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</a:rPr>
              <a:t>Perguntas e Respostas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80492"/>
            <a:ext cx="8572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897B"/>
                </a:solidFill>
              </a:rPr>
              <a:t>Discussão e Próximos Passos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1714500" y="1610916"/>
            <a:ext cx="5715000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410" dirty="0">
                <a:solidFill>
                  <a:srgbClr val="000000"/>
                </a:solidFill>
              </a:rPr>
              <a:t>💬</a:t>
            </a:r>
            <a:endParaRPr lang="en-US" sz="4410" dirty="0"/>
          </a:p>
        </p:txBody>
      </p:sp>
      <p:sp>
        <p:nvSpPr>
          <p:cNvPr id="6" name="Text 3"/>
          <p:cNvSpPr/>
          <p:nvPr/>
        </p:nvSpPr>
        <p:spPr>
          <a:xfrm>
            <a:off x="1714500" y="2503884"/>
            <a:ext cx="57150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Vamos Conversar!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1714500" y="2939653"/>
            <a:ext cx="5715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Obrigada por acompanhar esta jornada através do modelo CRISP-DM.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14500" y="3311128"/>
            <a:ext cx="571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050" dirty="0">
                <a:solidFill>
                  <a:srgbClr val="37474F"/>
                </a:solidFill>
              </a:rPr>
              <a:t>Suas perguntas, comentários e sugestões são fundamentais para refinar e aprimorar esta solução.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14500" y="3939778"/>
            <a:ext cx="5715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7C00"/>
                </a:solidFill>
              </a:rPr>
              <a:t>Qual é a sua pergunta?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0" y="4173736"/>
            <a:ext cx="9144000" cy="10640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0" y="4173736"/>
            <a:ext cx="9144000" cy="1428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71500" y="4345186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📧 Contato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4572000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Simone Rossetti Nobre Naxara</a:t>
            </a:r>
            <a:r>
              <a:rPr lang="en-US" sz="727" dirty="0">
                <a:solidFill>
                  <a:srgbClr val="37474F"/>
                </a:solidFill>
              </a:rPr>
              <a:t>
 Pesquisadora | Data Science &amp; Analytics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3333731" y="4345186"/>
            <a:ext cx="24765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🎯 Próximos Passos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333731" y="4572000"/>
            <a:ext cx="247650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1. Aprovação do Projeto de Pesquisa
 2. Coleta de Dados
 3. Desenvolvimento da API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095991" y="4345186"/>
            <a:ext cx="24764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🔗 Integração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095991" y="4572000"/>
            <a:ext cx="24764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37474F"/>
                </a:solidFill>
              </a:rPr>
              <a:t>Jira | Azure DevOps | KnoolyIa
</a:t>
            </a:r>
            <a:r>
              <a:rPr lang="en-US" sz="683" b="1" dirty="0">
                <a:solidFill>
                  <a:srgbClr val="00897B"/>
                </a:solidFill>
              </a:rPr>
              <a:t>Transformando Feedback em Ação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2f8ba2e-e556-4931-b5c8-1c162999bc23}" enabled="1" method="Standard" siteId="{87543db4-df13-4f35-995f-057e7aa9943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Office PowerPoint</Application>
  <PresentationFormat>Apresentação na tela (16:9)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Arial</vt:lpstr>
      <vt:lpstr>Saira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Simone Rossetti Nobre Naxara</cp:lastModifiedBy>
  <cp:revision>1</cp:revision>
  <dcterms:created xsi:type="dcterms:W3CDTF">2025-12-01T16:14:28Z</dcterms:created>
  <dcterms:modified xsi:type="dcterms:W3CDTF">2025-12-02T18:26:38Z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Conteúdo Interno</vt:lpwstr>
  </property>
</Properties>
</file>